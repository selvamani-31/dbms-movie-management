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🎬 CineMaster Pro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667EEA"/>
                </a:solidFill>
              </a:rPr>
              <a:t>Database ER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November 4, 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Database Design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The CineMaster Pro database is designed to efficiently store and manage all movie-related information including:
</a:t>
            </a:r>
            <a:r>
              <a:rPr lang="en-US" sz="1800" dirty="0">
                <a:solidFill>
                  <a:srgbClr val="4A5568"/>
                </a:solidFill>
              </a:rPr>
              <a:t>• User accounts and authentication
</a:t>
            </a:r>
            <a:r>
              <a:rPr lang="en-US" sz="1800" dirty="0">
                <a:solidFill>
                  <a:srgbClr val="4A5568"/>
                </a:solidFill>
              </a:rPr>
              <a:t>• Movie metadata and descriptions
</a:t>
            </a:r>
            <a:r>
              <a:rPr lang="en-US" sz="1800" dirty="0">
                <a:solidFill>
                  <a:srgbClr val="4A5568"/>
                </a:solidFill>
              </a:rPr>
              <a:t>• User collections and favorites
</a:t>
            </a:r>
            <a:r>
              <a:rPr lang="en-US" sz="1800" dirty="0">
                <a:solidFill>
                  <a:srgbClr val="4A5568"/>
                </a:solidFill>
              </a:rPr>
              <a:t>• Movie reviews and ratings
</a:t>
            </a:r>
            <a:r>
              <a:rPr lang="en-US" sz="1800" dirty="0">
                <a:solidFill>
                  <a:srgbClr val="4A5568"/>
                </a:solidFill>
              </a:rPr>
              <a:t>• Actor and director information
</a:t>
            </a:r>
            <a:r>
              <a:rPr lang="en-US" sz="1800" dirty="0">
                <a:solidFill>
                  <a:srgbClr val="4A5568"/>
                </a:solidFill>
              </a:rPr>
              <a:t>• Genre classification
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175" y="3809365"/>
            <a:ext cx="8229600" cy="5175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4BA2"/>
                </a:solidFill>
              </a:rPr>
              <a:t>Key Features: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09365"/>
            <a:ext cx="8229600" cy="2134235"/>
          </a:xfrm>
          <a:prstGeom prst="rect">
            <a:avLst/>
          </a:prstGeom>
          <a:noFill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BB78"/>
                </a:solidFill>
              </a:rPr>
              <a:t>✓ </a:t>
            </a:r>
            <a:r>
              <a:rPr lang="en-US" sz="1800" dirty="0">
                <a:solidFill>
                  <a:srgbClr val="4A5568"/>
                </a:solidFill>
              </a:rPr>
              <a:t>Normalized schema for data integrity
</a:t>
            </a:r>
            <a:r>
              <a:rPr lang="en-US" sz="1800" dirty="0">
                <a:solidFill>
                  <a:srgbClr val="48BB78"/>
                </a:solidFill>
              </a:rPr>
              <a:t>✓ </a:t>
            </a:r>
            <a:r>
              <a:rPr lang="en-US" sz="1800" dirty="0">
                <a:solidFill>
                  <a:srgbClr val="4A5568"/>
                </a:solidFill>
              </a:rPr>
              <a:t>Supports complex relationships
</a:t>
            </a:r>
            <a:r>
              <a:rPr lang="en-US" sz="1800" dirty="0">
                <a:solidFill>
                  <a:srgbClr val="48BB78"/>
                </a:solidFill>
              </a:rPr>
              <a:t>✓ </a:t>
            </a:r>
            <a:r>
              <a:rPr lang="en-US" sz="1800" dirty="0">
                <a:solidFill>
                  <a:srgbClr val="4A5568"/>
                </a:solidFill>
              </a:rPr>
              <a:t>Scalable design for future enhancements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ER Diagram Legend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57200" cy="27432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371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Primary Key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57200" cy="27432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8288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Foreign Key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57200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945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Relationship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182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EEA"/>
                </a:solidFill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182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651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One-to-Many Relationship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7015"/>
            <a:ext cx="8229600" cy="4908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Entity Relationship Diagram</a:t>
            </a:r>
            <a:endParaRPr lang="en-US" sz="2800" dirty="0"/>
          </a:p>
        </p:txBody>
      </p:sp>
      <p:pic>
        <p:nvPicPr>
          <p:cNvPr id="3" name="Image 0" descr="CineMaster_Pro_Presentation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7235"/>
            <a:ext cx="8229600" cy="3500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9200" y="91440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72080" y="1005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0880" y="10058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89200" y="137160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2080" y="1463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00880" y="1463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9200" y="17373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208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username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0880" y="1828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89200" y="21031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2080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email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0880" y="21945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VARCHAR(100)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89200" y="24688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2080" y="25603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password_hash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0880" y="2560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VARCHAR(255)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89200" y="28346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2080" y="2926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first_name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0880" y="29260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89200" y="32004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2080" y="3291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last_name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0880" y="32918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89200" y="35661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2080" y="3657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created_at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00880" y="3657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89200" y="39319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2080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updated_at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00880" y="40233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489200" y="42976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2080" y="43891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is_active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0880" y="43891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BOOLEAN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movies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68880" y="82296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914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80560" y="914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68880" y="128016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371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371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6459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737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title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VARCHAR(200)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20116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1031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description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1031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23774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468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release_date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27432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834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duration_minutes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INTEGER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31089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200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rating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3200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DECIMAL(3,1)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34747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5661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poster_url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3566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VARCHAR(500)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68880" y="38404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9319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trailer_url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39319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VARCHAR(500)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468880" y="42062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42976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created_at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80560" y="42976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468880" y="45720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4663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updated_at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46634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040" y="1828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collections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9200" y="121920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72080" y="1310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0880" y="1310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89200" y="167640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2080" y="1767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collection_id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00880" y="17678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9200" y="204216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2080" y="2133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user_id 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0880" y="2133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89200" y="24079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2080" y="2499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name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0880" y="24993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VARCHAR(100)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89200" y="27736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2080" y="28651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description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0880" y="28651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TEXT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89200" y="31394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2080" y="3230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is_public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0880" y="3230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BOOLEAN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89200" y="35052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2080" y="3596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created_at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0880" y="3596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89200" y="38709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2080" y="3962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updated_at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00880" y="3962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collection_movies</a:t>
            </a:r>
            <a:endParaRPr lang="en-US" sz="28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2407920" y="1376045"/>
            <a:ext cx="3645647" cy="455706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2590202" y="1467186"/>
            <a:ext cx="1822824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4413026" y="1467186"/>
            <a:ext cx="1367118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2407920" y="1831751"/>
            <a:ext cx="3645647" cy="364565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2590202" y="1922892"/>
            <a:ext cx="1822824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collection_id ■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4413026" y="1922892"/>
            <a:ext cx="1367118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2407920" y="2196316"/>
            <a:ext cx="3645647" cy="364565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2590202" y="2287457"/>
            <a:ext cx="1822824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movie_id ■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4413026" y="2287457"/>
            <a:ext cx="1367118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2407920" y="2560880"/>
            <a:ext cx="3645647" cy="364565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2590202" y="2652021"/>
            <a:ext cx="1822824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added_at</a:t>
            </a:r>
            <a:endParaRPr lang="en-US" sz="14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4413026" y="2652021"/>
            <a:ext cx="1367118" cy="2734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8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reviews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14880" y="118872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97760" y="12801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26560" y="1280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14880" y="164592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7760" y="1737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26560" y="17373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14880" y="201168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7760" y="21031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user_id 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26560" y="21031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14880" y="237744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7760" y="2468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movie_id 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26560" y="2468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14880" y="27432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7760" y="2834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rating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26560" y="2834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INTEGER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14880" y="31089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7760" y="3200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comment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26560" y="3200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TEXT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14880" y="34747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7760" y="35661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created_at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26560" y="3566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14880" y="38404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7760" y="39319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updated_at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26560" y="39319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genres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36800" y="137160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19680" y="1463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48480" y="1463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36800" y="182880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9680" y="19202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genre_id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848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36800" y="21945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9680" y="22860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genre_name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8480" y="22860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36800" y="25603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968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description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8480" y="26517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36800" y="29260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9680" y="3017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created_at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8480" y="3017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TIMESTAMP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movie_genres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68880" y="137160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1463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80560" y="1463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468880" y="182880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2651760" y="19202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movie_id ■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48056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2468880" y="219456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651760" y="22860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genre_id ■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480560" y="22860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actors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128016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83840" y="1371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12640" y="1371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0960" y="173736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384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actor_id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2640" y="1828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0960" y="21031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3840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first_name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2640" y="21945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0960" y="24688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3840" y="25603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last_name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2640" y="2560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0960" y="28346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3840" y="2926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biography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2640" y="29260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TEXT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0960" y="32004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3840" y="3291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birth_date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2640" y="32918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00960" y="35661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3840" y="3657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photo_url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2640" y="3657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VARCHAR(500)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movie_actors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57120" y="137160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40000" y="1463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68800" y="1463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57120" y="182880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0000" y="19202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movie_id 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6880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57120" y="219456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0000" y="22860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actor_id 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68800" y="22860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57120" y="25603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000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character_name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8800" y="26517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VARCHAR(100)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directors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72080" y="132588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4960" y="14173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83760" y="1417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72080" y="1783080"/>
            <a:ext cx="3657600" cy="365760"/>
          </a:xfrm>
          <a:prstGeom prst="rect">
            <a:avLst/>
          </a:prstGeom>
          <a:solidFill>
            <a:srgbClr val="48BB7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4960" y="1874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director_id 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83760" y="1874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72080" y="21488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4960" y="22402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first_name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3760" y="22402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72080" y="25146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4960" y="2606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last_name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3760" y="2606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72080" y="28803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4960" y="2971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biography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83760" y="2971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TEXT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72080" y="32461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4960" y="3337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birth_date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83760" y="33375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DATE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72080" y="36118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4960" y="37033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photo_url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83760" y="3703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VARCHAR(500)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Table: movie_directors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68880" y="1463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movie_id 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solidFill>
            <a:srgbClr val="ED8936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director_id 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2860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UUID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</a:rPr>
              <a:t>Database Relationships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16000" y="812800"/>
            <a:ext cx="8229600" cy="4053840"/>
          </a:xfrm>
          <a:prstGeom prst="rect">
            <a:avLst/>
          </a:prstGeom>
          <a:noFill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users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 —1—→N— </a:t>
            </a:r>
            <a:r>
              <a:rPr lang="en-US" sz="1600" dirty="0">
                <a:solidFill>
                  <a:srgbClr val="4A5568"/>
                </a:solidFill>
              </a:rPr>
              <a:t>collections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collections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 —1—→N— </a:t>
            </a:r>
            <a:r>
              <a:rPr lang="en-US" sz="1600" dirty="0">
                <a:solidFill>
                  <a:srgbClr val="4A5568"/>
                </a:solidFill>
              </a:rPr>
              <a:t>collection_movies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collection_movies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 —N—→1— </a:t>
            </a:r>
            <a:r>
              <a:rPr lang="en-US" sz="1600" dirty="0">
                <a:solidFill>
                  <a:srgbClr val="4A5568"/>
                </a:solidFill>
              </a:rPr>
              <a:t>movies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users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 —1—→N— </a:t>
            </a:r>
            <a:r>
              <a:rPr lang="en-US" sz="1600" dirty="0">
                <a:solidFill>
                  <a:srgbClr val="4A5568"/>
                </a:solidFill>
              </a:rPr>
              <a:t>reviews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reviews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 —N—→1— </a:t>
            </a:r>
            <a:r>
              <a:rPr lang="en-US" sz="1600" dirty="0">
                <a:solidFill>
                  <a:srgbClr val="4A5568"/>
                </a:solidFill>
              </a:rPr>
              <a:t>movies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movies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 —1—→N— </a:t>
            </a:r>
            <a:r>
              <a:rPr lang="en-US" sz="1600" dirty="0">
                <a:solidFill>
                  <a:srgbClr val="4A5568"/>
                </a:solidFill>
              </a:rPr>
              <a:t>movie_genres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movie_genres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 —N—→1— </a:t>
            </a:r>
            <a:r>
              <a:rPr lang="en-US" sz="1600" dirty="0">
                <a:solidFill>
                  <a:srgbClr val="4A5568"/>
                </a:solidFill>
              </a:rPr>
              <a:t>genres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movies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 —1—→N— </a:t>
            </a:r>
            <a:r>
              <a:rPr lang="en-US" sz="1600" dirty="0">
                <a:solidFill>
                  <a:srgbClr val="4A5568"/>
                </a:solidFill>
              </a:rPr>
              <a:t>movie_actors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movie_actors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 —N—→1— </a:t>
            </a:r>
            <a:r>
              <a:rPr lang="en-US" sz="1600" dirty="0">
                <a:solidFill>
                  <a:srgbClr val="4A5568"/>
                </a:solidFill>
              </a:rPr>
              <a:t>actors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movies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r>
              <a:rPr lang="en-US" sz="1600" dirty="0">
                <a:solidFill>
                  <a:srgbClr val="4A5568"/>
                </a:solidFill>
              </a:rPr>
              <a:t> —1—→N— </a:t>
            </a:r>
            <a:r>
              <a:rPr lang="en-US" sz="1600" dirty="0">
                <a:solidFill>
                  <a:srgbClr val="4A5568"/>
                </a:solidFill>
              </a:rPr>
              <a:t>movie_directors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
</a:t>
            </a:r>
            <a:r>
              <a:rPr lang="en-US" sz="1600" dirty="0">
                <a:solidFill>
                  <a:srgbClr val="4A5568"/>
                </a:solidFill>
              </a:rPr>
              <a:t>movie_directors </a:t>
            </a:r>
            <a:r>
              <a:rPr lang="en-US" sz="1600" dirty="0">
                <a:solidFill>
                  <a:srgbClr val="ED8936"/>
                </a:solidFill>
              </a:rPr>
              <a:t>■</a:t>
            </a:r>
            <a:r>
              <a:rPr lang="en-US" sz="1600" dirty="0">
                <a:solidFill>
                  <a:srgbClr val="4A5568"/>
                </a:solidFill>
              </a:rPr>
              <a:t> —N—→1— </a:t>
            </a:r>
            <a:r>
              <a:rPr lang="en-US" sz="1600" dirty="0">
                <a:solidFill>
                  <a:srgbClr val="4A5568"/>
                </a:solidFill>
              </a:rPr>
              <a:t>directors </a:t>
            </a:r>
            <a:r>
              <a:rPr lang="en-US" sz="1600" dirty="0">
                <a:solidFill>
                  <a:srgbClr val="48BB78"/>
                </a:solidFill>
              </a:rPr>
              <a:t>◆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667EEA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2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3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4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5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6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7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8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9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10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11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12.xml><?xml version="1.0" encoding="utf-8"?>
<p:tagLst xmlns:p="http://schemas.openxmlformats.org/presentationml/2006/main">
  <p:tag name="KSO_WM_DIAGRAM_VIRTUALLY_FRAME" val="{&quot;height&quot;:132.80000000000013,&quot;left&quot;:36,&quot;top&quot;:97.6,&quot;width&quot;:440.6588235294115}"/>
</p:tagLst>
</file>

<file path=ppt/tags/tag13.xml><?xml version="1.0" encoding="utf-8"?>
<p:tagLst xmlns:p="http://schemas.openxmlformats.org/presentationml/2006/main">
  <p:tag name="KSO_WM_DIAGRAM_VIRTUALLY_FRAME" val="{&quot;height&quot;:57.6,&quot;left&quot;:36,&quot;top&quot;:144,&quot;width&quot;:288}"/>
</p:tagLst>
</file>

<file path=ppt/tags/tag14.xml><?xml version="1.0" encoding="utf-8"?>
<p:tagLst xmlns:p="http://schemas.openxmlformats.org/presentationml/2006/main">
  <p:tag name="KSO_WM_DIAGRAM_VIRTUALLY_FRAME" val="{&quot;height&quot;:57.6,&quot;left&quot;:36,&quot;top&quot;:144,&quot;width&quot;:288}"/>
</p:tagLst>
</file>

<file path=ppt/tags/tag15.xml><?xml version="1.0" encoding="utf-8"?>
<p:tagLst xmlns:p="http://schemas.openxmlformats.org/presentationml/2006/main">
  <p:tag name="KSO_WM_DIAGRAM_VIRTUALLY_FRAME" val="{&quot;height&quot;:57.6,&quot;left&quot;:36,&quot;top&quot;:144,&quot;width&quot;:288}"/>
</p:tagLst>
</file>

<file path=ppt/tags/tag16.xml><?xml version="1.0" encoding="utf-8"?>
<p:tagLst xmlns:p="http://schemas.openxmlformats.org/presentationml/2006/main">
  <p:tag name="KSO_WM_DIAGRAM_VIRTUALLY_FRAME" val="{&quot;height&quot;:57.6,&quot;left&quot;:36,&quot;top&quot;:144,&quot;width&quot;:288}"/>
</p:tagLst>
</file>

<file path=ppt/tags/tag17.xml><?xml version="1.0" encoding="utf-8"?>
<p:tagLst xmlns:p="http://schemas.openxmlformats.org/presentationml/2006/main">
  <p:tag name="KSO_WM_DIAGRAM_VIRTUALLY_FRAME" val="{&quot;height&quot;:57.6,&quot;left&quot;:36,&quot;top&quot;:144,&quot;width&quot;:288}"/>
</p:tagLst>
</file>

<file path=ppt/tags/tag18.xml><?xml version="1.0" encoding="utf-8"?>
<p:tagLst xmlns:p="http://schemas.openxmlformats.org/presentationml/2006/main">
  <p:tag name="KSO_WM_DIAGRAM_VIRTUALLY_FRAME" val="{&quot;height&quot;:57.6,&quot;left&quot;:36,&quot;top&quot;:144,&quot;width&quot;:2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2442</Words>
  <Application>WPS Presentation</Application>
  <PresentationFormat>On-screen Show (16:9)</PresentationFormat>
  <Paragraphs>342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CineMaster Pro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CineMaster Pro - Database ER Model</dc:title>
  <dc:creator>CineMaster Pro Team</dc:creator>
  <dc:subject>Database Design</dc:subject>
  <cp:lastModifiedBy>Dharanesh E</cp:lastModifiedBy>
  <cp:revision>3</cp:revision>
  <dcterms:created xsi:type="dcterms:W3CDTF">2025-11-03T19:58:00Z</dcterms:created>
  <dcterms:modified xsi:type="dcterms:W3CDTF">2025-11-06T10:08:11Z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1ABFFAE45FEB4066BFC4F474FB526F53_12</vt:lpwstr>
  </property>
  <property fmtid="{D5CDD505-2E9C-101B-9397-08002B2CF9AE}" pid="3" name="KSOProductBuildVer">
    <vt:lpwstr>2057-12.2.0.23149</vt:lpwstr>
  </property>
</Properties>
</file>