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</p:sld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2" Type="http://schemas.openxmlformats.org/officeDocument/2006/relationships/tableStyles" Target="tableStyles.xml"/><Relationship Id="rId21" Type="http://schemas.openxmlformats.org/officeDocument/2006/relationships/viewProps" Target="viewProps.xml"/><Relationship Id="rId20" Type="http://schemas.openxmlformats.org/officeDocument/2006/relationships/presProps" Target="presProps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7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6.png"/><Relationship Id="rId1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9" Type="http://schemas.openxmlformats.org/officeDocument/2006/relationships/tags" Target="../tags/tag9.xml"/><Relationship Id="rId8" Type="http://schemas.openxmlformats.org/officeDocument/2006/relationships/tags" Target="../tags/tag8.xml"/><Relationship Id="rId7" Type="http://schemas.openxmlformats.org/officeDocument/2006/relationships/tags" Target="../tags/tag7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0" Type="http://schemas.openxmlformats.org/officeDocument/2006/relationships/notesSlide" Target="../notesSlides/notesSlide10.xml"/><Relationship Id="rId2" Type="http://schemas.openxmlformats.org/officeDocument/2006/relationships/tags" Target="../tags/tag2.xml"/><Relationship Id="rId19" Type="http://schemas.openxmlformats.org/officeDocument/2006/relationships/slideLayout" Target="../slideLayouts/slideLayout1.xml"/><Relationship Id="rId18" Type="http://schemas.openxmlformats.org/officeDocument/2006/relationships/tags" Target="../tags/tag18.xml"/><Relationship Id="rId17" Type="http://schemas.openxmlformats.org/officeDocument/2006/relationships/tags" Target="../tags/tag17.xml"/><Relationship Id="rId16" Type="http://schemas.openxmlformats.org/officeDocument/2006/relationships/tags" Target="../tags/tag16.xml"/><Relationship Id="rId15" Type="http://schemas.openxmlformats.org/officeDocument/2006/relationships/tags" Target="../tags/tag15.xml"/><Relationship Id="rId14" Type="http://schemas.openxmlformats.org/officeDocument/2006/relationships/tags" Target="../tags/tag14.xml"/><Relationship Id="rId13" Type="http://schemas.openxmlformats.org/officeDocument/2006/relationships/tags" Target="../tags/tag13.xml"/><Relationship Id="rId12" Type="http://schemas.openxmlformats.org/officeDocument/2006/relationships/tags" Target="../tags/tag12.xml"/><Relationship Id="rId11" Type="http://schemas.openxmlformats.org/officeDocument/2006/relationships/tags" Target="../tags/tag11.xml"/><Relationship Id="rId10" Type="http://schemas.openxmlformats.org/officeDocument/2006/relationships/tags" Target="../tags/tag10.xml"/><Relationship Id="rId1" Type="http://schemas.openxmlformats.org/officeDocument/2006/relationships/tags" Target="../tags/tag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8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9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0F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274320"/>
          </a:xfrm>
          <a:prstGeom prst="rect">
            <a:avLst/>
          </a:prstGeom>
          <a:solidFill>
            <a:srgbClr val="667EEA"/>
          </a:solidFill>
        </p:spPr>
      </p:sp>
      <p:sp>
        <p:nvSpPr>
          <p:cNvPr id="3" name="Shape 1"/>
          <p:cNvSpPr/>
          <p:nvPr/>
        </p:nvSpPr>
        <p:spPr>
          <a:xfrm>
            <a:off x="0" y="6126480"/>
            <a:ext cx="9144000" cy="274320"/>
          </a:xfrm>
          <a:prstGeom prst="rect">
            <a:avLst/>
          </a:prstGeom>
          <a:solidFill>
            <a:srgbClr val="764BA2"/>
          </a:solidFill>
        </p:spPr>
      </p:sp>
      <p:sp>
        <p:nvSpPr>
          <p:cNvPr id="4" name="Text 2"/>
          <p:cNvSpPr/>
          <p:nvPr/>
        </p:nvSpPr>
        <p:spPr>
          <a:xfrm>
            <a:off x="457200" y="1371600"/>
            <a:ext cx="8229600" cy="1371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dirty="0">
                <a:solidFill>
                  <a:srgbClr val="F093FB"/>
                </a:solidFill>
              </a:rPr>
              <a:t>🎬 </a:t>
            </a:r>
            <a:r>
              <a:rPr lang="en-US" sz="4800" b="1" dirty="0">
                <a:solidFill>
                  <a:srgbClr val="FFFFFF"/>
                </a:solidFill>
              </a:rPr>
              <a:t>CineMaster Pro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457200" y="2743200"/>
            <a:ext cx="8229600" cy="914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i="1" dirty="0">
                <a:solidFill>
                  <a:srgbClr val="667EEA"/>
                </a:solidFill>
              </a:rPr>
              <a:t>Ultimate Movie Management System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3657600"/>
            <a:ext cx="822960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888888"/>
                </a:solidFill>
              </a:rPr>
              <a:t>Technical Overview: Frontend, Backend &amp; Database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57200" y="5943600"/>
            <a:ext cx="82296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888888"/>
                </a:solidFill>
              </a:rPr>
              <a:t>CineMaster Pro Presentation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0F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667EEA"/>
          </a:solidFill>
        </p:spPr>
      </p:sp>
      <p:sp>
        <p:nvSpPr>
          <p:cNvPr id="3" name="Text 1"/>
          <p:cNvSpPr/>
          <p:nvPr/>
        </p:nvSpPr>
        <p:spPr>
          <a:xfrm>
            <a:off x="8686800" y="182880"/>
            <a:ext cx="457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888888"/>
                </a:solidFill>
              </a:rPr>
              <a:t>2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667EEA"/>
                </a:solidFill>
              </a:rPr>
              <a:t>Introduction to CineMaster Pro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371600"/>
            <a:ext cx="5029200" cy="3627755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dirty="0">
                <a:solidFill>
                  <a:srgbClr val="FFFFFF"/>
                </a:solidFill>
              </a:rPr>
              <a:t>CineMaster Pro is a complete, production-ready movie management system designed for movie enthusiasts, collectors, and critics. It combines a powerful backend with an intuitive frontend interface, featuring user authentication, movie database, collections, and advanced search capabilities.</a:t>
            </a:r>
            <a:endParaRPr lang="en-US" sz="1800" dirty="0"/>
          </a:p>
          <a:p>
            <a:pPr marL="0" indent="0">
              <a:lnSpc>
                <a:spcPts val="2400"/>
              </a:lnSpc>
              <a:buNone/>
            </a:pPr>
            <a:endParaRPr lang="en-US" sz="1800" dirty="0"/>
          </a:p>
          <a:p>
            <a:pPr marL="0" indent="0">
              <a:lnSpc>
                <a:spcPts val="2400"/>
              </a:lnSpc>
              <a:buNone/>
            </a:pPr>
            <a:r>
              <a:rPr lang="en-US" sz="1800" dirty="0">
                <a:solidFill>
                  <a:srgbClr val="FFFFFF"/>
                </a:solidFill>
              </a:rPr>
              <a:t>Built with modern technologies, CineMaster Pro offers a seamless experience across all devices with its responsive design and dark mode interface.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5943600" y="1371600"/>
            <a:ext cx="2743200" cy="3657600"/>
          </a:xfrm>
          <a:prstGeom prst="rect">
            <a:avLst/>
          </a:prstGeom>
          <a:noFill/>
          <a:ln w="25400">
            <a:solidFill>
              <a:srgbClr val="888888"/>
            </a:solidFill>
            <a:prstDash val="dash"/>
          </a:ln>
        </p:spPr>
      </p:sp>
      <p:sp>
        <p:nvSpPr>
          <p:cNvPr id="7" name="Text 5"/>
          <p:cNvSpPr/>
          <p:nvPr/>
        </p:nvSpPr>
        <p:spPr>
          <a:xfrm>
            <a:off x="5943600" y="1371600"/>
            <a:ext cx="2743200" cy="3657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888888"/>
                </a:solidFill>
              </a:rPr>
              <a:t>📸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888888"/>
                </a:solidFill>
              </a:rPr>
              <a:t>IMAGE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888888"/>
                </a:solidFill>
              </a:rPr>
              <a:t>PLACEHOLDER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943600" y="5212080"/>
            <a:ext cx="27432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888888"/>
                </a:solidFill>
              </a:rPr>
              <a:t>Application Dashboard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0" y="6263640"/>
            <a:ext cx="9144000" cy="137160"/>
          </a:xfrm>
          <a:prstGeom prst="rect">
            <a:avLst/>
          </a:prstGeom>
          <a:solidFill>
            <a:srgbClr val="764BA2"/>
          </a:solidFill>
        </p:spPr>
      </p:sp>
      <p:sp>
        <p:nvSpPr>
          <p:cNvPr id="10" name="Text 8"/>
          <p:cNvSpPr/>
          <p:nvPr/>
        </p:nvSpPr>
        <p:spPr>
          <a:xfrm>
            <a:off x="457200" y="6217920"/>
            <a:ext cx="82296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888888"/>
                </a:solidFill>
              </a:rPr>
              <a:t>CineMaster Pro - Technical Architecture</a:t>
            </a:r>
            <a:endParaRPr lang="en-US" sz="1200" dirty="0"/>
          </a:p>
        </p:txBody>
      </p:sp>
      <p:pic>
        <p:nvPicPr>
          <p:cNvPr id="11" name="Picture 10" descr="Screenshot 2025-11-04 08275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66385" y="182880"/>
            <a:ext cx="3528060" cy="484441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0F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667EEA"/>
          </a:solidFill>
        </p:spPr>
      </p:sp>
      <p:sp>
        <p:nvSpPr>
          <p:cNvPr id="3" name="Text 1"/>
          <p:cNvSpPr/>
          <p:nvPr/>
        </p:nvSpPr>
        <p:spPr>
          <a:xfrm>
            <a:off x="8686800" y="182880"/>
            <a:ext cx="457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888888"/>
                </a:solidFill>
              </a:rPr>
              <a:t>3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667EEA"/>
                </a:solidFill>
              </a:rPr>
              <a:t>System Architecture Overview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127760"/>
            <a:ext cx="5029200" cy="3637915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2200" b="1" dirty="0">
                <a:solidFill>
                  <a:srgbClr val="FFFFFF"/>
                </a:solidFill>
              </a:rPr>
              <a:t>Three-Tier Architecture:</a:t>
            </a:r>
            <a:endParaRPr lang="en-US" sz="2200" dirty="0"/>
          </a:p>
          <a:p>
            <a:pPr marL="685800" lvl="1" indent="-342900">
              <a:lnSpc>
                <a:spcPts val="2400"/>
              </a:lnSpc>
              <a:buSzPct val="100000"/>
              <a:buChar char="•"/>
            </a:pPr>
            <a:r>
              <a:rPr lang="en-US" sz="1800" dirty="0">
                <a:solidFill>
                  <a:srgbClr val="48BB78"/>
                </a:solidFill>
              </a:rPr>
              <a:t>• Frontend Layer - User Interface</a:t>
            </a:r>
            <a:endParaRPr lang="en-US" sz="2200" dirty="0"/>
          </a:p>
          <a:p>
            <a:pPr marL="685800" lvl="1" indent="-342900">
              <a:lnSpc>
                <a:spcPts val="2400"/>
              </a:lnSpc>
              <a:buSzPct val="100000"/>
              <a:buChar char="•"/>
            </a:pPr>
            <a:r>
              <a:rPr lang="en-US" sz="1800" dirty="0">
                <a:solidFill>
                  <a:srgbClr val="ED8936"/>
                </a:solidFill>
              </a:rPr>
              <a:t>• Backend Layer - Business Logic &amp; API</a:t>
            </a:r>
            <a:endParaRPr lang="en-US" sz="2200" dirty="0"/>
          </a:p>
          <a:p>
            <a:pPr marL="0" lvl="1" indent="0">
              <a:lnSpc>
                <a:spcPts val="2400"/>
              </a:lnSpc>
              <a:buSzPct val="100000"/>
              <a:buNone/>
            </a:pPr>
            <a:r>
              <a:rPr lang="en-US" sz="1800" dirty="0">
                <a:solidFill>
                  <a:srgbClr val="F093FB"/>
                </a:solidFill>
              </a:rPr>
              <a:t>• Database Layer - Data Storage</a:t>
            </a:r>
            <a:endParaRPr lang="en-US" sz="2200" dirty="0"/>
          </a:p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2200" b="1" dirty="0">
                <a:solidFill>
                  <a:srgbClr val="FFFFFF"/>
                </a:solidFill>
              </a:rPr>
              <a:t>Key Design Principles:</a:t>
            </a:r>
            <a:endParaRPr lang="en-US" sz="2200" dirty="0"/>
          </a:p>
          <a:p>
            <a:pPr marL="685800" lvl="1" indent="-342900">
              <a:lnSpc>
                <a:spcPts val="2400"/>
              </a:lnSpc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</a:rPr>
              <a:t>• Clean separation of concerns</a:t>
            </a:r>
            <a:endParaRPr lang="en-US" sz="2200" dirty="0"/>
          </a:p>
          <a:p>
            <a:pPr marL="685800" lvl="1" indent="-342900">
              <a:lnSpc>
                <a:spcPts val="2400"/>
              </a:lnSpc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</a:rPr>
              <a:t>• Scalable and maintainable</a:t>
            </a:r>
            <a:endParaRPr lang="en-US" sz="2200" dirty="0"/>
          </a:p>
          <a:p>
            <a:pPr marL="685800" lvl="1" indent="-342900">
              <a:lnSpc>
                <a:spcPts val="2400"/>
              </a:lnSpc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</a:rPr>
              <a:t>• Secure and performant</a:t>
            </a:r>
            <a:endParaRPr lang="en-US" sz="2200" dirty="0"/>
          </a:p>
          <a:p>
            <a:pPr marL="685800" lvl="1" indent="-342900">
              <a:lnSpc>
                <a:spcPts val="2400"/>
              </a:lnSpc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</a:rPr>
              <a:t>• Industry best practices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5943600" y="5212080"/>
            <a:ext cx="27432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888888"/>
                </a:solidFill>
              </a:rPr>
              <a:t>Three-Tier Architecture Diagram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0" y="6263640"/>
            <a:ext cx="9144000" cy="137160"/>
          </a:xfrm>
          <a:prstGeom prst="rect">
            <a:avLst/>
          </a:prstGeom>
          <a:solidFill>
            <a:srgbClr val="764BA2"/>
          </a:solidFill>
        </p:spPr>
      </p:sp>
      <p:sp>
        <p:nvSpPr>
          <p:cNvPr id="10" name="Text 8"/>
          <p:cNvSpPr/>
          <p:nvPr/>
        </p:nvSpPr>
        <p:spPr>
          <a:xfrm>
            <a:off x="457200" y="6217920"/>
            <a:ext cx="82296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888888"/>
                </a:solidFill>
              </a:rPr>
              <a:t>CineMaster Pro - Technical Architecture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0F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667EEA"/>
          </a:solidFill>
        </p:spPr>
      </p:sp>
      <p:sp>
        <p:nvSpPr>
          <p:cNvPr id="3" name="Text 1"/>
          <p:cNvSpPr/>
          <p:nvPr/>
        </p:nvSpPr>
        <p:spPr>
          <a:xfrm>
            <a:off x="8686800" y="182880"/>
            <a:ext cx="457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888888"/>
                </a:solidFill>
              </a:rPr>
              <a:t>4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667EEA"/>
                </a:solidFill>
              </a:rPr>
              <a:t>Frontend - User Interface Layer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371600"/>
            <a:ext cx="5029200" cy="36245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2200" b="1" dirty="0">
                <a:solidFill>
                  <a:srgbClr val="FFFFFF"/>
                </a:solidFill>
              </a:rPr>
              <a:t>Technology Stack:</a:t>
            </a:r>
            <a:endParaRPr lang="en-US" sz="2200" dirty="0"/>
          </a:p>
          <a:p>
            <a:pPr marL="685800" lvl="1" indent="-342900">
              <a:lnSpc>
                <a:spcPts val="2400"/>
              </a:lnSpc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</a:rPr>
              <a:t>• React 18 - Component-based UI library</a:t>
            </a:r>
            <a:endParaRPr lang="en-US" sz="2200" dirty="0"/>
          </a:p>
          <a:p>
            <a:pPr marL="685800" lvl="1" indent="-342900">
              <a:lnSpc>
                <a:spcPts val="2400"/>
              </a:lnSpc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</a:rPr>
              <a:t>• Vite - Next-generation frontend tooling</a:t>
            </a:r>
            <a:endParaRPr lang="en-US" sz="2200" dirty="0"/>
          </a:p>
          <a:p>
            <a:pPr marL="685800" lvl="1" indent="-342900">
              <a:lnSpc>
                <a:spcPts val="2400"/>
              </a:lnSpc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</a:rPr>
              <a:t>• Axios - Promise-based HTTP client</a:t>
            </a:r>
            <a:endParaRPr lang="en-US" sz="2200" dirty="0"/>
          </a:p>
          <a:p>
            <a:pPr marL="0" lvl="1" indent="0">
              <a:lnSpc>
                <a:spcPts val="2400"/>
              </a:lnSpc>
              <a:buSzPct val="100000"/>
              <a:buNone/>
            </a:pPr>
            <a:r>
              <a:rPr lang="en-US" sz="1800" dirty="0">
                <a:solidFill>
                  <a:srgbClr val="FFFFFF"/>
                </a:solidFill>
              </a:rPr>
              <a:t>• CSS3 - Modern styling with responsive design</a:t>
            </a:r>
            <a:endParaRPr lang="en-US" sz="2200" dirty="0"/>
          </a:p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2200" b="1" dirty="0">
                <a:solidFill>
                  <a:srgbClr val="FFFFFF"/>
                </a:solidFill>
              </a:rPr>
              <a:t>Key Features:</a:t>
            </a:r>
            <a:endParaRPr lang="en-US" sz="2200" dirty="0"/>
          </a:p>
          <a:p>
            <a:pPr marL="685800" lvl="1" indent="-342900">
              <a:lnSpc>
                <a:spcPts val="2400"/>
              </a:lnSpc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</a:rPr>
              <a:t>• Responsive design for all devices</a:t>
            </a:r>
            <a:endParaRPr lang="en-US" sz="2200" dirty="0"/>
          </a:p>
          <a:p>
            <a:pPr marL="685800" lvl="1" indent="-342900">
              <a:lnSpc>
                <a:spcPts val="2400"/>
              </a:lnSpc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</a:rPr>
              <a:t>• Dark mode interface with gradient accents</a:t>
            </a:r>
            <a:endParaRPr lang="en-US" sz="2200" dirty="0"/>
          </a:p>
          <a:p>
            <a:pPr marL="685800" lvl="1" indent="-342900">
              <a:lnSpc>
                <a:spcPts val="2400"/>
              </a:lnSpc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</a:rPr>
              <a:t>• Interactive components with hover effects</a:t>
            </a:r>
            <a:endParaRPr lang="en-US" sz="2200" dirty="0"/>
          </a:p>
          <a:p>
            <a:pPr marL="685800" lvl="1" indent="-342900">
              <a:lnSpc>
                <a:spcPts val="2400"/>
              </a:lnSpc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</a:rPr>
              <a:t>• Real-time updates and token-based authentication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5943600" y="1371600"/>
            <a:ext cx="2207260" cy="2194560"/>
          </a:xfrm>
          <a:prstGeom prst="rect">
            <a:avLst/>
          </a:prstGeom>
          <a:noFill/>
          <a:ln w="25400">
            <a:solidFill>
              <a:srgbClr val="888888"/>
            </a:solidFill>
            <a:prstDash val="dash"/>
          </a:ln>
        </p:spPr>
      </p:sp>
      <p:sp>
        <p:nvSpPr>
          <p:cNvPr id="7" name="Text 5"/>
          <p:cNvSpPr/>
          <p:nvPr/>
        </p:nvSpPr>
        <p:spPr>
          <a:xfrm>
            <a:off x="5943600" y="1371600"/>
            <a:ext cx="1662430" cy="1421765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888888"/>
                </a:solidFill>
              </a:rPr>
              <a:t>📸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888888"/>
                </a:solidFill>
              </a:rPr>
              <a:t>IMAGE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888888"/>
                </a:solidFill>
              </a:rPr>
              <a:t>PLACEHOLDER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943600" y="5212080"/>
            <a:ext cx="27432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888888"/>
                </a:solidFill>
              </a:rPr>
              <a:t>Frontend Technology Stack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0" y="6263640"/>
            <a:ext cx="9144000" cy="137160"/>
          </a:xfrm>
          <a:prstGeom prst="rect">
            <a:avLst/>
          </a:prstGeom>
          <a:solidFill>
            <a:srgbClr val="764BA2"/>
          </a:solidFill>
        </p:spPr>
      </p:sp>
      <p:sp>
        <p:nvSpPr>
          <p:cNvPr id="10" name="Text 8"/>
          <p:cNvSpPr/>
          <p:nvPr/>
        </p:nvSpPr>
        <p:spPr>
          <a:xfrm>
            <a:off x="457200" y="6217920"/>
            <a:ext cx="82296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888888"/>
                </a:solidFill>
              </a:rPr>
              <a:t>CineMaster Pro - Technical Architecture</a:t>
            </a:r>
            <a:endParaRPr lang="en-US" sz="1200" dirty="0"/>
          </a:p>
        </p:txBody>
      </p:sp>
      <p:pic>
        <p:nvPicPr>
          <p:cNvPr id="11" name="Picture 10" descr="Screenshot 2025-11-04 07574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33720" y="1050290"/>
            <a:ext cx="3422015" cy="331597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0F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667EEA"/>
          </a:solidFill>
        </p:spPr>
      </p:sp>
      <p:sp>
        <p:nvSpPr>
          <p:cNvPr id="3" name="Text 1"/>
          <p:cNvSpPr/>
          <p:nvPr/>
        </p:nvSpPr>
        <p:spPr>
          <a:xfrm>
            <a:off x="8686800" y="182880"/>
            <a:ext cx="457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888888"/>
                </a:solidFill>
              </a:rPr>
              <a:t>5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457200"/>
            <a:ext cx="8229600" cy="447675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667EEA"/>
                </a:solidFill>
              </a:rPr>
              <a:t>Frontend Component Structure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371600"/>
            <a:ext cx="5029200" cy="310769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2200" b="1" dirty="0">
                <a:solidFill>
                  <a:srgbClr val="FFFFFF"/>
                </a:solidFill>
              </a:rPr>
              <a:t>Main Components:</a:t>
            </a:r>
            <a:endParaRPr lang="en-US" sz="2200" dirty="0"/>
          </a:p>
          <a:p>
            <a:pPr marL="685800" lvl="1" indent="-342900">
              <a:lnSpc>
                <a:spcPts val="2400"/>
              </a:lnSpc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</a:rPr>
              <a:t>• App.jsx - Main application with tab navigation</a:t>
            </a:r>
            <a:endParaRPr lang="en-US" sz="2200" dirty="0"/>
          </a:p>
          <a:p>
            <a:pPr marL="685800" lvl="1" indent="-342900">
              <a:lnSpc>
                <a:spcPts val="2400"/>
              </a:lnSpc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</a:rPr>
              <a:t>• MovieCard.jsx - Movie display with hover effects</a:t>
            </a:r>
            <a:endParaRPr lang="en-US" sz="2200" dirty="0"/>
          </a:p>
          <a:p>
            <a:pPr marL="685800" lvl="1" indent="-342900">
              <a:lnSpc>
                <a:spcPts val="2400"/>
              </a:lnSpc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</a:rPr>
              <a:t>• MovieDetailsModal.jsx - Detailed movie information</a:t>
            </a:r>
            <a:endParaRPr lang="en-US" sz="2200" dirty="0"/>
          </a:p>
          <a:p>
            <a:pPr marL="0" lvl="1" indent="0">
              <a:lnSpc>
                <a:spcPts val="2400"/>
              </a:lnSpc>
              <a:buSzPct val="100000"/>
              <a:buNone/>
            </a:pPr>
            <a:r>
              <a:rPr lang="en-US" sz="1800" dirty="0">
                <a:solidFill>
                  <a:srgbClr val="FFFFFF"/>
                </a:solidFill>
              </a:rPr>
              <a:t>• LoadingSkeleton.jsx - Loading placeholders for UX</a:t>
            </a:r>
            <a:endParaRPr lang="en-US" sz="2200" dirty="0"/>
          </a:p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2200" b="1" dirty="0">
                <a:solidFill>
                  <a:srgbClr val="FFFFFF"/>
                </a:solidFill>
              </a:rPr>
              <a:t>State Management:</a:t>
            </a:r>
            <a:endParaRPr lang="en-US" sz="2200" dirty="0"/>
          </a:p>
          <a:p>
            <a:pPr marL="685800" lvl="1" indent="-342900">
              <a:lnSpc>
                <a:spcPts val="2400"/>
              </a:lnSpc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</a:rPr>
              <a:t>• React useState hooks for component state</a:t>
            </a:r>
            <a:endParaRPr lang="en-US" sz="2200" dirty="0"/>
          </a:p>
          <a:p>
            <a:pPr marL="685800" lvl="1" indent="-342900">
              <a:lnSpc>
                <a:spcPts val="2400"/>
              </a:lnSpc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</a:rPr>
              <a:t>• useEffect for side effects and data fetching</a:t>
            </a:r>
            <a:endParaRPr lang="en-US" sz="2200" dirty="0"/>
          </a:p>
          <a:p>
            <a:pPr marL="685800" lvl="1" indent="-342900">
              <a:lnSpc>
                <a:spcPts val="2400"/>
              </a:lnSpc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</a:rPr>
              <a:t>• LocalStorage for data persistence</a:t>
            </a:r>
            <a:endParaRPr lang="en-US" sz="2200" dirty="0"/>
          </a:p>
          <a:p>
            <a:pPr marL="685800" lvl="1" indent="-342900">
              <a:lnSpc>
                <a:spcPts val="2400"/>
              </a:lnSpc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</a:rPr>
              <a:t>• Axios interceptors for authentication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5943600" y="1371600"/>
            <a:ext cx="2743200" cy="3657600"/>
          </a:xfrm>
          <a:prstGeom prst="rect">
            <a:avLst/>
          </a:prstGeom>
          <a:noFill/>
          <a:ln w="25400">
            <a:solidFill>
              <a:srgbClr val="888888"/>
            </a:solidFill>
            <a:prstDash val="dash"/>
          </a:ln>
        </p:spPr>
      </p:sp>
      <p:sp>
        <p:nvSpPr>
          <p:cNvPr id="7" name="Text 5"/>
          <p:cNvSpPr/>
          <p:nvPr/>
        </p:nvSpPr>
        <p:spPr>
          <a:xfrm>
            <a:off x="5943600" y="1371600"/>
            <a:ext cx="2743200" cy="3657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888888"/>
                </a:solidFill>
              </a:rPr>
              <a:t>📸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888888"/>
                </a:solidFill>
              </a:rPr>
              <a:t>IMAGE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888888"/>
                </a:solidFill>
              </a:rPr>
              <a:t>PLACEHOLDER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943600" y="5212080"/>
            <a:ext cx="27432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888888"/>
                </a:solidFill>
              </a:rPr>
              <a:t>Component Hierarchy Diagram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0" y="6263640"/>
            <a:ext cx="9144000" cy="137160"/>
          </a:xfrm>
          <a:prstGeom prst="rect">
            <a:avLst/>
          </a:prstGeom>
          <a:solidFill>
            <a:srgbClr val="764BA2"/>
          </a:solidFill>
        </p:spPr>
      </p:sp>
      <p:sp>
        <p:nvSpPr>
          <p:cNvPr id="10" name="Text 8"/>
          <p:cNvSpPr/>
          <p:nvPr/>
        </p:nvSpPr>
        <p:spPr>
          <a:xfrm>
            <a:off x="457200" y="6217920"/>
            <a:ext cx="82296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888888"/>
                </a:solidFill>
              </a:rPr>
              <a:t>CineMaster Pro - Technical Architecture</a:t>
            </a:r>
            <a:endParaRPr lang="en-US" sz="1200" dirty="0"/>
          </a:p>
        </p:txBody>
      </p:sp>
      <p:pic>
        <p:nvPicPr>
          <p:cNvPr id="11" name="Picture 10" descr="Screenshot 2025-11-04 08124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3730" y="752475"/>
            <a:ext cx="2976880" cy="439102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0F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667EEA"/>
          </a:solidFill>
        </p:spPr>
      </p:sp>
      <p:sp>
        <p:nvSpPr>
          <p:cNvPr id="3" name="Text 1"/>
          <p:cNvSpPr/>
          <p:nvPr/>
        </p:nvSpPr>
        <p:spPr>
          <a:xfrm>
            <a:off x="8686800" y="182880"/>
            <a:ext cx="457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888888"/>
                </a:solidFill>
              </a:rPr>
              <a:t>6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667EEA"/>
                </a:solidFill>
              </a:rPr>
              <a:t>Backend - API &amp; Business Logic Layer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371600"/>
            <a:ext cx="5029200" cy="3593465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2200" b="1" dirty="0">
                <a:solidFill>
                  <a:srgbClr val="FFFFFF"/>
                </a:solidFill>
              </a:rPr>
              <a:t>Technology Stack:</a:t>
            </a:r>
            <a:endParaRPr lang="en-US" sz="2200" dirty="0"/>
          </a:p>
          <a:p>
            <a:pPr marL="685800" lvl="1" indent="-342900">
              <a:lnSpc>
                <a:spcPts val="2400"/>
              </a:lnSpc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</a:rPr>
              <a:t>• Node.js - JavaScript runtime environment</a:t>
            </a:r>
            <a:endParaRPr lang="en-US" sz="2200" dirty="0"/>
          </a:p>
          <a:p>
            <a:pPr marL="685800" lvl="1" indent="-342900">
              <a:lnSpc>
                <a:spcPts val="2400"/>
              </a:lnSpc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</a:rPr>
              <a:t>• Express.js - Web application framework</a:t>
            </a:r>
            <a:endParaRPr lang="en-US" sz="2200" dirty="0"/>
          </a:p>
          <a:p>
            <a:pPr marL="685800" lvl="1" indent="-342900">
              <a:lnSpc>
                <a:spcPts val="2400"/>
              </a:lnSpc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</a:rPr>
              <a:t>• PostgreSQL - Relational database</a:t>
            </a:r>
            <a:endParaRPr lang="en-US" sz="2200" dirty="0"/>
          </a:p>
          <a:p>
            <a:pPr marL="685800" lvl="1" indent="-342900">
              <a:lnSpc>
                <a:spcPts val="2400"/>
              </a:lnSpc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</a:rPr>
              <a:t>• JWT - Authentication tokens</a:t>
            </a:r>
            <a:endParaRPr lang="en-US" sz="2200" dirty="0"/>
          </a:p>
          <a:p>
            <a:pPr marL="0" lvl="1" indent="0">
              <a:lnSpc>
                <a:spcPts val="2400"/>
              </a:lnSpc>
              <a:buSzPct val="100000"/>
              <a:buNone/>
            </a:pPr>
            <a:r>
              <a:rPr lang="en-US" sz="1800" dirty="0">
                <a:solidFill>
                  <a:srgbClr val="FFFFFF"/>
                </a:solidFill>
              </a:rPr>
              <a:t>• Helmet - Security middleware</a:t>
            </a:r>
            <a:endParaRPr lang="en-US" sz="2200" dirty="0"/>
          </a:p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2200" b="1" dirty="0">
                <a:solidFill>
                  <a:srgbClr val="FFFFFF"/>
                </a:solidFill>
              </a:rPr>
              <a:t>API Architecture:</a:t>
            </a:r>
            <a:endParaRPr lang="en-US" sz="2200" dirty="0"/>
          </a:p>
          <a:p>
            <a:pPr marL="685800" lvl="1" indent="-342900">
              <a:lnSpc>
                <a:spcPts val="2400"/>
              </a:lnSpc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</a:rPr>
              <a:t>• RESTful endpoints with JSON data format</a:t>
            </a:r>
            <a:endParaRPr lang="en-US" sz="2200" dirty="0"/>
          </a:p>
          <a:p>
            <a:pPr marL="685800" lvl="1" indent="-342900">
              <a:lnSpc>
                <a:spcPts val="2400"/>
              </a:lnSpc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</a:rPr>
              <a:t>• Standard HTTP methods (GET, POST, PUT, DELETE)</a:t>
            </a:r>
            <a:endParaRPr lang="en-US" sz="2200" dirty="0"/>
          </a:p>
          <a:p>
            <a:pPr marL="685800" lvl="1" indent="-342900">
              <a:lnSpc>
                <a:spcPts val="2400"/>
              </a:lnSpc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</a:rPr>
              <a:t>• Comprehensive error handling middleware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6489065" y="1852295"/>
            <a:ext cx="2197735" cy="370205"/>
          </a:xfrm>
          <a:prstGeom prst="rect">
            <a:avLst/>
          </a:prstGeom>
          <a:noFill/>
          <a:ln w="25400">
            <a:solidFill>
              <a:srgbClr val="888888"/>
            </a:solidFill>
            <a:prstDash val="dash"/>
          </a:ln>
        </p:spPr>
      </p:sp>
      <p:sp>
        <p:nvSpPr>
          <p:cNvPr id="7" name="Text 5"/>
          <p:cNvSpPr/>
          <p:nvPr/>
        </p:nvSpPr>
        <p:spPr>
          <a:xfrm>
            <a:off x="6779260" y="1371600"/>
            <a:ext cx="1907540" cy="120015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888888"/>
                </a:solidFill>
              </a:rPr>
              <a:t>📸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888888"/>
                </a:solidFill>
              </a:rPr>
              <a:t>IMAGE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888888"/>
                </a:solidFill>
              </a:rPr>
              <a:t>PLACEHOLDER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943600" y="5212080"/>
            <a:ext cx="27432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888888"/>
                </a:solidFill>
              </a:rPr>
              <a:t>Backend Technology Stack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0" y="6263640"/>
            <a:ext cx="9144000" cy="137160"/>
          </a:xfrm>
          <a:prstGeom prst="rect">
            <a:avLst/>
          </a:prstGeom>
          <a:solidFill>
            <a:srgbClr val="764BA2"/>
          </a:solidFill>
        </p:spPr>
      </p:sp>
      <p:sp>
        <p:nvSpPr>
          <p:cNvPr id="10" name="Text 8"/>
          <p:cNvSpPr/>
          <p:nvPr/>
        </p:nvSpPr>
        <p:spPr>
          <a:xfrm>
            <a:off x="457200" y="6217920"/>
            <a:ext cx="82296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888888"/>
                </a:solidFill>
              </a:rPr>
              <a:t>CineMaster Pro - Technical Architecture</a:t>
            </a:r>
            <a:endParaRPr lang="en-US" sz="1200" dirty="0"/>
          </a:p>
        </p:txBody>
      </p:sp>
      <p:pic>
        <p:nvPicPr>
          <p:cNvPr id="11" name="Picture 10" descr="Screenshot 2025-11-04 08025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31790" y="1445260"/>
            <a:ext cx="3517265" cy="294576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0F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667EEA"/>
          </a:solidFill>
        </p:spPr>
      </p:sp>
      <p:sp>
        <p:nvSpPr>
          <p:cNvPr id="3" name="Text 1"/>
          <p:cNvSpPr/>
          <p:nvPr/>
        </p:nvSpPr>
        <p:spPr>
          <a:xfrm>
            <a:off x="8686800" y="182880"/>
            <a:ext cx="457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888888"/>
                </a:solidFill>
              </a:rPr>
              <a:t>7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667EEA"/>
                </a:solidFill>
              </a:rPr>
              <a:t>Backend API Endpoints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914400"/>
            <a:ext cx="5029200" cy="45720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2200" b="1" dirty="0">
                <a:solidFill>
                  <a:srgbClr val="FFFFFF"/>
                </a:solidFill>
              </a:rPr>
              <a:t>Main API Routes:</a:t>
            </a:r>
            <a:endParaRPr lang="en-US" sz="2200" dirty="0"/>
          </a:p>
          <a:p>
            <a:pPr marL="685800" lvl="1" indent="-342900">
              <a:lnSpc>
                <a:spcPts val="2400"/>
              </a:lnSpc>
              <a:buSzPct val="100000"/>
              <a:buChar char="•"/>
            </a:pPr>
            <a:r>
              <a:rPr lang="en-US" sz="1800" dirty="0">
                <a:solidFill>
                  <a:srgbClr val="48BB78"/>
                </a:solidFill>
              </a:rPr>
              <a:t>• /api/auth - User registration and login</a:t>
            </a:r>
            <a:endParaRPr lang="en-US" sz="2200" dirty="0"/>
          </a:p>
          <a:p>
            <a:pPr marL="685800" lvl="1" indent="-342900">
              <a:lnSpc>
                <a:spcPts val="2400"/>
              </a:lnSpc>
              <a:buSzPct val="100000"/>
              <a:buChar char="•"/>
            </a:pPr>
            <a:r>
              <a:rPr lang="en-US" sz="1800" dirty="0">
                <a:solidFill>
                  <a:srgbClr val="48BB78"/>
                </a:solidFill>
              </a:rPr>
              <a:t>• /api/movies - Movie management (CRUD)</a:t>
            </a:r>
            <a:endParaRPr lang="en-US" sz="2200" dirty="0"/>
          </a:p>
          <a:p>
            <a:pPr marL="685800" lvl="1" indent="-342900">
              <a:lnSpc>
                <a:spcPts val="2400"/>
              </a:lnSpc>
              <a:buSzPct val="100000"/>
              <a:buChar char="•"/>
            </a:pPr>
            <a:r>
              <a:rPr lang="en-US" sz="1800" dirty="0">
                <a:solidFill>
                  <a:srgbClr val="ED8936"/>
                </a:solidFill>
              </a:rPr>
              <a:t>• /api/collections - Collection management</a:t>
            </a:r>
            <a:endParaRPr lang="en-US" sz="2200" dirty="0"/>
          </a:p>
          <a:p>
            <a:pPr marL="685800" lvl="1" indent="-342900">
              <a:lnSpc>
                <a:spcPts val="2400"/>
              </a:lnSpc>
              <a:buSzPct val="100000"/>
              <a:buChar char="•"/>
            </a:pPr>
            <a:r>
              <a:rPr lang="en-US" sz="1800" dirty="0">
                <a:solidFill>
                  <a:srgbClr val="ED8936"/>
                </a:solidFill>
              </a:rPr>
              <a:t>• /api/reviews - Movie reviews system</a:t>
            </a:r>
            <a:endParaRPr lang="en-US" sz="2200" dirty="0"/>
          </a:p>
          <a:p>
            <a:pPr marL="685800" lvl="1" indent="-342900">
              <a:lnSpc>
                <a:spcPts val="2400"/>
              </a:lnSpc>
              <a:buSzPct val="100000"/>
              <a:buChar char="•"/>
            </a:pPr>
            <a:r>
              <a:rPr lang="en-US" sz="1800" dirty="0">
                <a:solidFill>
                  <a:srgbClr val="F093FB"/>
                </a:solidFill>
              </a:rPr>
              <a:t>• /api/stats - Statistics and analytics</a:t>
            </a:r>
            <a:endParaRPr lang="en-US" sz="2200" dirty="0"/>
          </a:p>
          <a:p>
            <a:pPr marL="0" lvl="1" indent="0">
              <a:lnSpc>
                <a:spcPts val="2400"/>
              </a:lnSpc>
              <a:buSzPct val="100000"/>
              <a:buNone/>
            </a:pPr>
            <a:r>
              <a:rPr lang="en-US" sz="1800" dirty="0">
                <a:solidFill>
                  <a:srgbClr val="F093FB"/>
                </a:solidFill>
              </a:rPr>
              <a:t>• /api/users - User account management</a:t>
            </a:r>
            <a:endParaRPr lang="en-US" sz="2200" dirty="0"/>
          </a:p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2200" b="1" dirty="0">
                <a:solidFill>
                  <a:srgbClr val="FFFFFF"/>
                </a:solidFill>
              </a:rPr>
              <a:t>Security Features:</a:t>
            </a:r>
            <a:endParaRPr lang="en-US" sz="2200" dirty="0"/>
          </a:p>
          <a:p>
            <a:pPr marL="685800" lvl="1" indent="-342900">
              <a:lnSpc>
                <a:spcPts val="2400"/>
              </a:lnSpc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</a:rPr>
              <a:t>• JWT token authentication for protected routes</a:t>
            </a:r>
            <a:endParaRPr lang="en-US" sz="2200" dirty="0"/>
          </a:p>
          <a:p>
            <a:pPr marL="685800" lvl="1" indent="-342900">
              <a:lnSpc>
                <a:spcPts val="2400"/>
              </a:lnSpc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</a:rPr>
              <a:t>• Request rate limiting to prevent abuse</a:t>
            </a:r>
            <a:endParaRPr lang="en-US" sz="2200" dirty="0"/>
          </a:p>
          <a:p>
            <a:pPr marL="685800" lvl="1" indent="-342900">
              <a:lnSpc>
                <a:spcPts val="2400"/>
              </a:lnSpc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</a:rPr>
              <a:t>• Input validation and sanitization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5943600" y="589915"/>
            <a:ext cx="2743200" cy="3657600"/>
          </a:xfrm>
          <a:prstGeom prst="rect">
            <a:avLst/>
          </a:prstGeom>
          <a:noFill/>
          <a:ln w="25400">
            <a:solidFill>
              <a:srgbClr val="888888"/>
            </a:solidFill>
            <a:prstDash val="dash"/>
          </a:ln>
        </p:spPr>
      </p:sp>
      <p:sp>
        <p:nvSpPr>
          <p:cNvPr id="7" name="Text 5"/>
          <p:cNvSpPr/>
          <p:nvPr/>
        </p:nvSpPr>
        <p:spPr>
          <a:xfrm>
            <a:off x="5943600" y="1371600"/>
            <a:ext cx="2743200" cy="13131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888888"/>
                </a:solidFill>
              </a:rPr>
              <a:t>📸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888888"/>
                </a:solidFill>
              </a:rPr>
              <a:t>IMAGE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888888"/>
                </a:solidFill>
              </a:rPr>
              <a:t>PLACEHOLDER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943600" y="5212080"/>
            <a:ext cx="27432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888888"/>
                </a:solidFill>
              </a:rPr>
              <a:t>API Endpoint Structure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0" y="6263640"/>
            <a:ext cx="9144000" cy="137160"/>
          </a:xfrm>
          <a:prstGeom prst="rect">
            <a:avLst/>
          </a:prstGeom>
          <a:solidFill>
            <a:srgbClr val="764BA2"/>
          </a:solidFill>
        </p:spPr>
      </p:sp>
      <p:sp>
        <p:nvSpPr>
          <p:cNvPr id="10" name="Text 8"/>
          <p:cNvSpPr/>
          <p:nvPr/>
        </p:nvSpPr>
        <p:spPr>
          <a:xfrm>
            <a:off x="457200" y="6217920"/>
            <a:ext cx="82296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888888"/>
                </a:solidFill>
              </a:rPr>
              <a:t>CineMaster Pro - Technical Architecture</a:t>
            </a:r>
            <a:endParaRPr lang="en-US" sz="1200" dirty="0"/>
          </a:p>
        </p:txBody>
      </p:sp>
      <p:pic>
        <p:nvPicPr>
          <p:cNvPr id="11" name="Picture 10" descr="Screenshot 2025-11-04 08081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91455" y="250190"/>
            <a:ext cx="3741420" cy="2890520"/>
          </a:xfrm>
          <a:prstGeom prst="rect">
            <a:avLst/>
          </a:prstGeom>
        </p:spPr>
      </p:pic>
      <p:pic>
        <p:nvPicPr>
          <p:cNvPr id="12" name="Picture 11" descr="Screenshot 2025-11-04 08105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52720" y="2571750"/>
            <a:ext cx="3735070" cy="23190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0F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667EEA"/>
          </a:solidFill>
        </p:spPr>
      </p:sp>
      <p:sp>
        <p:nvSpPr>
          <p:cNvPr id="3" name="Text 1"/>
          <p:cNvSpPr/>
          <p:nvPr/>
        </p:nvSpPr>
        <p:spPr>
          <a:xfrm>
            <a:off x="8686800" y="182880"/>
            <a:ext cx="457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888888"/>
                </a:solidFill>
              </a:rPr>
              <a:t>8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457200"/>
            <a:ext cx="8229600" cy="531495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667EEA"/>
                </a:solidFill>
              </a:rPr>
              <a:t>Database - Data Storage Layer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943600" y="1371600"/>
            <a:ext cx="2743200" cy="3657600"/>
          </a:xfrm>
          <a:prstGeom prst="rect">
            <a:avLst/>
          </a:prstGeom>
          <a:noFill/>
          <a:ln w="25400">
            <a:solidFill>
              <a:srgbClr val="888888"/>
            </a:solidFill>
            <a:prstDash val="dash"/>
          </a:ln>
        </p:spPr>
      </p:sp>
      <p:sp>
        <p:nvSpPr>
          <p:cNvPr id="7" name="Text 5"/>
          <p:cNvSpPr/>
          <p:nvPr/>
        </p:nvSpPr>
        <p:spPr>
          <a:xfrm>
            <a:off x="5943600" y="1371600"/>
            <a:ext cx="2743200" cy="3657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888888"/>
                </a:solidFill>
              </a:rPr>
              <a:t>📸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888888"/>
                </a:solidFill>
              </a:rPr>
              <a:t>IMAGE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888888"/>
                </a:solidFill>
              </a:rPr>
              <a:t>PLACEHOLDER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943600" y="5212080"/>
            <a:ext cx="27432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888888"/>
                </a:solidFill>
              </a:rPr>
              <a:t>Database Technology Stack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0" y="6263640"/>
            <a:ext cx="9144000" cy="137160"/>
          </a:xfrm>
          <a:prstGeom prst="rect">
            <a:avLst/>
          </a:prstGeom>
          <a:solidFill>
            <a:srgbClr val="764BA2"/>
          </a:solidFill>
        </p:spPr>
      </p:sp>
      <p:sp>
        <p:nvSpPr>
          <p:cNvPr id="10" name="Text 8"/>
          <p:cNvSpPr/>
          <p:nvPr/>
        </p:nvSpPr>
        <p:spPr>
          <a:xfrm>
            <a:off x="457200" y="6217920"/>
            <a:ext cx="82296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888888"/>
                </a:solidFill>
              </a:rPr>
              <a:t>CineMaster Pro - Technical Architecture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1358900"/>
            <a:ext cx="5455920" cy="3422015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2200" b="1" dirty="0">
                <a:solidFill>
                  <a:srgbClr val="FFFFFF"/>
                </a:solidFill>
              </a:rPr>
              <a:t>Technology Stack:</a:t>
            </a:r>
            <a:endParaRPr lang="en-US" sz="2200" dirty="0"/>
          </a:p>
          <a:p>
            <a:pPr marL="685800" lvl="1" indent="-342900">
              <a:lnSpc>
                <a:spcPts val="2400"/>
              </a:lnSpc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</a:rPr>
              <a:t>• PostgreSQL - Advanced open-source relational database</a:t>
            </a:r>
            <a:endParaRPr lang="en-US" sz="2200" dirty="0"/>
          </a:p>
          <a:p>
            <a:pPr marL="685800" lvl="1" indent="-342900">
              <a:lnSpc>
                <a:spcPts val="2400"/>
              </a:lnSpc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</a:rPr>
              <a:t>• Relational Structure - Normalized data model</a:t>
            </a:r>
            <a:endParaRPr lang="en-US" sz="2200" dirty="0"/>
          </a:p>
          <a:p>
            <a:pPr marL="685800" lvl="1" indent="-342900">
              <a:lnSpc>
                <a:spcPts val="2400"/>
              </a:lnSpc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</a:rPr>
              <a:t>• ACID Compliance - Data integrity and consistency</a:t>
            </a:r>
            <a:endParaRPr lang="en-US" sz="2200" dirty="0"/>
          </a:p>
          <a:p>
            <a:pPr marL="0" lvl="1" indent="0">
              <a:lnSpc>
                <a:spcPts val="2400"/>
              </a:lnSpc>
              <a:buSzPct val="100000"/>
              <a:buNone/>
            </a:pPr>
            <a:r>
              <a:rPr lang="en-US" sz="1800" dirty="0">
                <a:solidFill>
                  <a:srgbClr val="FFFFFF"/>
                </a:solidFill>
              </a:rPr>
              <a:t>• JSON Support - Flexible data storage</a:t>
            </a:r>
            <a:endParaRPr lang="en-US" sz="2200" dirty="0"/>
          </a:p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2200" b="1" dirty="0">
                <a:solidFill>
                  <a:srgbClr val="FFFFFF"/>
                </a:solidFill>
              </a:rPr>
              <a:t>Database Features:</a:t>
            </a:r>
            <a:endParaRPr lang="en-US" sz="2200" dirty="0"/>
          </a:p>
          <a:p>
            <a:pPr marL="685800" lvl="1" indent="-342900">
              <a:lnSpc>
                <a:spcPts val="2400"/>
              </a:lnSpc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</a:rPr>
              <a:t>• Movie information storage with rich metadata</a:t>
            </a:r>
            <a:endParaRPr lang="en-US" sz="2200" dirty="0"/>
          </a:p>
          <a:p>
            <a:pPr marL="685800" lvl="1" indent="-342900">
              <a:lnSpc>
                <a:spcPts val="2400"/>
              </a:lnSpc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</a:rPr>
              <a:t>• User account and session management</a:t>
            </a:r>
            <a:endParaRPr lang="en-US" sz="2200" dirty="0"/>
          </a:p>
          <a:p>
            <a:pPr marL="685800" lvl="1" indent="-342900">
              <a:lnSpc>
                <a:spcPts val="2400"/>
              </a:lnSpc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</a:rPr>
              <a:t>• Collection system with many-to-many relationships</a:t>
            </a:r>
            <a:endParaRPr lang="en-US" sz="2200" dirty="0"/>
          </a:p>
          <a:p>
            <a:pPr marL="685800" lvl="1" indent="-342900">
              <a:lnSpc>
                <a:spcPts val="2400"/>
              </a:lnSpc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</a:rPr>
              <a:t>• Review system with ratings</a:t>
            </a:r>
            <a:endParaRPr lang="en-US" sz="2200" dirty="0"/>
          </a:p>
        </p:txBody>
      </p:sp>
      <p:pic>
        <p:nvPicPr>
          <p:cNvPr id="11" name="Picture 10" descr="Screenshot 2025-11-04 08152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80405" y="1207770"/>
            <a:ext cx="3253740" cy="391414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0F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12"/>
          <p:cNvSpPr/>
          <p:nvPr/>
        </p:nvSpPr>
        <p:spPr>
          <a:xfrm>
            <a:off x="3657600" y="1421130"/>
            <a:ext cx="8229600" cy="128143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ts val="2000"/>
              </a:lnSpc>
              <a:buNone/>
            </a:pPr>
            <a:r>
              <a:rPr lang="en-US" sz="1600" dirty="0">
                <a:solidFill>
                  <a:srgbClr val="FFFFFF"/>
                </a:solidFill>
              </a:rPr>
              <a:t>• genres - Movie genre classification</a:t>
            </a:r>
            <a:endParaRPr lang="en-US" sz="1600" dirty="0"/>
          </a:p>
          <a:p>
            <a:pPr marL="0" indent="0">
              <a:lnSpc>
                <a:spcPts val="2000"/>
              </a:lnSpc>
              <a:buNone/>
            </a:pPr>
            <a:r>
              <a:rPr lang="en-US" sz="1600" dirty="0">
                <a:solidFill>
                  <a:srgbClr val="FFFFFF"/>
                </a:solidFill>
              </a:rPr>
              <a:t>• actors - Actor information</a:t>
            </a:r>
            <a:endParaRPr lang="en-US" sz="1600" dirty="0"/>
          </a:p>
          <a:p>
            <a:pPr marL="0" indent="0">
              <a:lnSpc>
                <a:spcPts val="2000"/>
              </a:lnSpc>
              <a:buNone/>
            </a:pPr>
            <a:r>
              <a:rPr lang="en-US" sz="1600" dirty="0">
                <a:solidFill>
                  <a:srgbClr val="FFFFFF"/>
                </a:solidFill>
              </a:rPr>
              <a:t>• directors - Director information</a:t>
            </a:r>
            <a:endParaRPr lang="en-US" sz="1600" dirty="0"/>
          </a:p>
        </p:txBody>
      </p:sp>
      <p:sp>
        <p:nvSpPr>
          <p:cNvPr id="2" name="Shape 0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667EEA"/>
          </a:solidFill>
        </p:spPr>
      </p:sp>
      <p:sp>
        <p:nvSpPr>
          <p:cNvPr id="3" name="Text 1"/>
          <p:cNvSpPr/>
          <p:nvPr/>
        </p:nvSpPr>
        <p:spPr>
          <a:xfrm>
            <a:off x="8686800" y="182880"/>
            <a:ext cx="457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888888"/>
                </a:solidFill>
              </a:rPr>
              <a:t>9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667EEA"/>
                </a:solidFill>
              </a:rPr>
              <a:t>Database Schema Design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178560"/>
            <a:ext cx="82296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093FB"/>
                </a:solidFill>
              </a:rPr>
              <a:t>Core Tables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457200" y="1717675"/>
            <a:ext cx="8229600" cy="832485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ts val="2000"/>
              </a:lnSpc>
              <a:buNone/>
            </a:pPr>
            <a:r>
              <a:rPr lang="en-US" sz="1600" dirty="0">
                <a:solidFill>
                  <a:srgbClr val="FFFFFF"/>
                </a:solidFill>
              </a:rPr>
              <a:t>• movies - Core movie information</a:t>
            </a:r>
            <a:endParaRPr lang="en-US" sz="1600" dirty="0"/>
          </a:p>
          <a:p>
            <a:pPr marL="0" indent="0">
              <a:lnSpc>
                <a:spcPts val="2000"/>
              </a:lnSpc>
              <a:buNone/>
            </a:pPr>
            <a:r>
              <a:rPr lang="en-US" sz="1600" dirty="0">
                <a:solidFill>
                  <a:srgbClr val="FFFFFF"/>
                </a:solidFill>
              </a:rPr>
              <a:t>• users - User account data</a:t>
            </a:r>
            <a:endParaRPr lang="en-US" sz="1600" dirty="0"/>
          </a:p>
          <a:p>
            <a:pPr marL="0" indent="0">
              <a:lnSpc>
                <a:spcPts val="2000"/>
              </a:lnSpc>
              <a:buNone/>
            </a:pPr>
            <a:r>
              <a:rPr lang="en-US" sz="1600" dirty="0">
                <a:solidFill>
                  <a:srgbClr val="FFFFFF"/>
                </a:solidFill>
              </a:rPr>
              <a:t>• collections - Collection metadata</a:t>
            </a:r>
            <a:endParaRPr lang="en-US" sz="1600" dirty="0"/>
          </a:p>
          <a:p>
            <a:pPr marL="0" indent="0">
              <a:lnSpc>
                <a:spcPts val="2000"/>
              </a:lnSpc>
              <a:buNone/>
            </a:pPr>
            <a:r>
              <a:rPr lang="en-US" sz="1600" dirty="0">
                <a:solidFill>
                  <a:srgbClr val="FFFFFF"/>
                </a:solidFill>
              </a:rPr>
              <a:t>• reviews - User movie reviews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57200" y="2702560"/>
            <a:ext cx="8229600" cy="533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093FB"/>
                </a:solidFill>
              </a:rPr>
              <a:t>Relationship Tables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390525" y="3079115"/>
            <a:ext cx="8229600" cy="10972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ts val="2000"/>
              </a:lnSpc>
              <a:buNone/>
            </a:pPr>
            <a:r>
              <a:rPr lang="en-US" sz="1600" dirty="0">
                <a:solidFill>
                  <a:srgbClr val="FFFFFF"/>
                </a:solidFill>
              </a:rPr>
              <a:t>• collection_movies - Collection-movie relationships</a:t>
            </a:r>
            <a:endParaRPr lang="en-US" sz="1600" dirty="0"/>
          </a:p>
          <a:p>
            <a:pPr marL="0" indent="0">
              <a:lnSpc>
                <a:spcPts val="2000"/>
              </a:lnSpc>
              <a:buNone/>
            </a:pPr>
            <a:r>
              <a:rPr lang="en-US" sz="1600" dirty="0">
                <a:solidFill>
                  <a:srgbClr val="FFFFFF"/>
                </a:solidFill>
              </a:rPr>
              <a:t>• movie_genres - Movie-genre relationships</a:t>
            </a:r>
            <a:endParaRPr lang="en-US" sz="1600" dirty="0"/>
          </a:p>
          <a:p>
            <a:pPr marL="0" indent="0">
              <a:lnSpc>
                <a:spcPts val="2000"/>
              </a:lnSpc>
              <a:buNone/>
            </a:pPr>
            <a:r>
              <a:rPr lang="en-US" sz="1600" dirty="0">
                <a:solidFill>
                  <a:srgbClr val="FFFFFF"/>
                </a:solidFill>
              </a:rPr>
              <a:t>• movie_actors - Movie-actor relationships</a:t>
            </a:r>
            <a:endParaRPr lang="en-US" sz="1600" dirty="0"/>
          </a:p>
          <a:p>
            <a:pPr marL="0" indent="0">
              <a:lnSpc>
                <a:spcPts val="2000"/>
              </a:lnSpc>
              <a:buNone/>
            </a:pPr>
            <a:r>
              <a:rPr lang="en-US" sz="1600" dirty="0">
                <a:solidFill>
                  <a:srgbClr val="FFFFFF"/>
                </a:solidFill>
              </a:rPr>
              <a:t>• movie_directors - Movie-director relationships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858000" y="3474720"/>
            <a:ext cx="18288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3383280" y="1193800"/>
            <a:ext cx="8229600" cy="309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093FB"/>
                </a:solidFill>
              </a:rPr>
              <a:t>Reference Tables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7591425" y="4302760"/>
            <a:ext cx="1028700" cy="600075"/>
          </a:xfrm>
          <a:prstGeom prst="rect">
            <a:avLst/>
          </a:prstGeom>
          <a:noFill/>
          <a:ln w="12700">
            <a:solidFill>
              <a:schemeClr val="tx1">
                <a:lumMod val="95000"/>
                <a:lumOff val="5000"/>
              </a:schemeClr>
            </a:solidFill>
            <a:prstDash val="dash"/>
          </a:ln>
        </p:spPr>
        <p:txBody>
          <a:bodyPr/>
          <a:p>
            <a:endParaRPr lang="en-GB" altLang="en-US"/>
          </a:p>
        </p:txBody>
      </p:sp>
      <p:sp>
        <p:nvSpPr>
          <p:cNvPr id="17" name="Shape 15"/>
          <p:cNvSpPr/>
          <p:nvPr/>
        </p:nvSpPr>
        <p:spPr>
          <a:xfrm>
            <a:off x="0" y="6263640"/>
            <a:ext cx="9144000" cy="137160"/>
          </a:xfrm>
          <a:prstGeom prst="rect">
            <a:avLst/>
          </a:prstGeom>
          <a:solidFill>
            <a:srgbClr val="764BA2"/>
          </a:solidFill>
        </p:spPr>
      </p:sp>
      <p:sp>
        <p:nvSpPr>
          <p:cNvPr id="18" name="Text 16"/>
          <p:cNvSpPr/>
          <p:nvPr/>
        </p:nvSpPr>
        <p:spPr>
          <a:xfrm>
            <a:off x="457200" y="6217920"/>
            <a:ext cx="82296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888888"/>
                </a:solidFill>
              </a:rPr>
              <a:t>CineMaster Pro - Technical Architecture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0F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667EEA"/>
          </a:solidFill>
        </p:spPr>
      </p:sp>
      <p:sp>
        <p:nvSpPr>
          <p:cNvPr id="3" name="Text 1"/>
          <p:cNvSpPr/>
          <p:nvPr/>
        </p:nvSpPr>
        <p:spPr>
          <a:xfrm>
            <a:off x="8686800" y="182880"/>
            <a:ext cx="457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888888"/>
                </a:solidFill>
              </a:rPr>
              <a:t>10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667EEA"/>
                </a:solidFill>
              </a:rPr>
              <a:t>Core Features of CineMaster Pro</a:t>
            </a:r>
            <a:endParaRPr lang="en-US" sz="2800" dirty="0"/>
          </a:p>
        </p:txBody>
      </p:sp>
      <p:sp>
        <p:nvSpPr>
          <p:cNvPr id="5" name="Shape 3"/>
          <p:cNvSpPr/>
          <p:nvPr>
            <p:custDataLst>
              <p:tags r:id="rId1"/>
            </p:custDataLst>
          </p:nvPr>
        </p:nvSpPr>
        <p:spPr>
          <a:xfrm>
            <a:off x="457200" y="1390650"/>
            <a:ext cx="2635250" cy="1581150"/>
          </a:xfrm>
          <a:prstGeom prst="rect">
            <a:avLst/>
          </a:prstGeom>
          <a:solidFill>
            <a:srgbClr val="1A1A1A"/>
          </a:solidFill>
          <a:ln w="12700">
            <a:solidFill>
              <a:srgbClr val="8888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828800"/>
            <a:ext cx="4572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093FB"/>
                </a:solidFill>
              </a:rPr>
              <a:t>🎬</a:t>
            </a:r>
            <a:endParaRPr lang="en-US" sz="2400" dirty="0"/>
          </a:p>
        </p:txBody>
      </p:sp>
      <p:sp>
        <p:nvSpPr>
          <p:cNvPr id="7" name="Text 5"/>
          <p:cNvSpPr/>
          <p:nvPr>
            <p:custDataLst>
              <p:tags r:id="rId2"/>
            </p:custDataLst>
          </p:nvPr>
        </p:nvSpPr>
        <p:spPr>
          <a:xfrm>
            <a:off x="1159933" y="1566333"/>
            <a:ext cx="1756833" cy="4392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</a:rPr>
              <a:t>Movie Management</a:t>
            </a:r>
            <a:endParaRPr lang="en-US" sz="1600" dirty="0"/>
          </a:p>
        </p:txBody>
      </p:sp>
      <p:sp>
        <p:nvSpPr>
          <p:cNvPr id="8" name="Text 6"/>
          <p:cNvSpPr/>
          <p:nvPr>
            <p:custDataLst>
              <p:tags r:id="rId3"/>
            </p:custDataLst>
          </p:nvPr>
        </p:nvSpPr>
        <p:spPr>
          <a:xfrm>
            <a:off x="633095" y="2383155"/>
            <a:ext cx="2284095" cy="5003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00" dirty="0">
                <a:solidFill>
                  <a:srgbClr val="888888"/>
                </a:solidFill>
              </a:rPr>
              <a:t>Full CRUD operations with manual entry or TMDB auto-fetch</a:t>
            </a:r>
            <a:endParaRPr lang="en-US" sz="1200" dirty="0"/>
          </a:p>
        </p:txBody>
      </p:sp>
      <p:sp>
        <p:nvSpPr>
          <p:cNvPr id="9" name="Shape 7"/>
          <p:cNvSpPr/>
          <p:nvPr>
            <p:custDataLst>
              <p:tags r:id="rId4"/>
            </p:custDataLst>
          </p:nvPr>
        </p:nvSpPr>
        <p:spPr>
          <a:xfrm>
            <a:off x="3355975" y="1390650"/>
            <a:ext cx="2635250" cy="1581150"/>
          </a:xfrm>
          <a:prstGeom prst="rect">
            <a:avLst/>
          </a:prstGeom>
          <a:solidFill>
            <a:srgbClr val="1A1A1A"/>
          </a:solidFill>
          <a:ln w="12700">
            <a:solidFill>
              <a:srgbClr val="88888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0" y="1828800"/>
            <a:ext cx="4572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093FB"/>
                </a:solidFill>
              </a:rPr>
              <a:t>🔍</a:t>
            </a:r>
            <a:endParaRPr lang="en-US" sz="2400" dirty="0"/>
          </a:p>
        </p:txBody>
      </p:sp>
      <p:sp>
        <p:nvSpPr>
          <p:cNvPr id="11" name="Text 9"/>
          <p:cNvSpPr/>
          <p:nvPr>
            <p:custDataLst>
              <p:tags r:id="rId5"/>
            </p:custDataLst>
          </p:nvPr>
        </p:nvSpPr>
        <p:spPr>
          <a:xfrm>
            <a:off x="4058708" y="1566333"/>
            <a:ext cx="1756833" cy="4392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</a:rPr>
              <a:t>Advanced Search</a:t>
            </a:r>
            <a:endParaRPr lang="en-US" sz="1600" dirty="0"/>
          </a:p>
        </p:txBody>
      </p:sp>
      <p:sp>
        <p:nvSpPr>
          <p:cNvPr id="12" name="Text 10"/>
          <p:cNvSpPr/>
          <p:nvPr>
            <p:custDataLst>
              <p:tags r:id="rId6"/>
            </p:custDataLst>
          </p:nvPr>
        </p:nvSpPr>
        <p:spPr>
          <a:xfrm>
            <a:off x="3531870" y="2383155"/>
            <a:ext cx="2284095" cy="5003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00" dirty="0">
                <a:solidFill>
                  <a:srgbClr val="888888"/>
                </a:solidFill>
              </a:rPr>
              <a:t>Filter by title, genre, year, rating with multiple sort options</a:t>
            </a:r>
            <a:endParaRPr lang="en-US" sz="1200" dirty="0"/>
          </a:p>
        </p:txBody>
      </p:sp>
      <p:sp>
        <p:nvSpPr>
          <p:cNvPr id="13" name="Shape 11"/>
          <p:cNvSpPr/>
          <p:nvPr>
            <p:custDataLst>
              <p:tags r:id="rId7"/>
            </p:custDataLst>
          </p:nvPr>
        </p:nvSpPr>
        <p:spPr>
          <a:xfrm>
            <a:off x="6254750" y="1390650"/>
            <a:ext cx="2635250" cy="1581150"/>
          </a:xfrm>
          <a:prstGeom prst="rect">
            <a:avLst/>
          </a:prstGeom>
          <a:solidFill>
            <a:srgbClr val="1A1A1A"/>
          </a:solidFill>
          <a:ln w="12700">
            <a:solidFill>
              <a:srgbClr val="8888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675120" y="1828800"/>
            <a:ext cx="4572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093FB"/>
                </a:solidFill>
              </a:rPr>
              <a:t>📚</a:t>
            </a:r>
            <a:endParaRPr lang="en-US" sz="2400" dirty="0"/>
          </a:p>
        </p:txBody>
      </p:sp>
      <p:sp>
        <p:nvSpPr>
          <p:cNvPr id="15" name="Text 13"/>
          <p:cNvSpPr/>
          <p:nvPr>
            <p:custDataLst>
              <p:tags r:id="rId8"/>
            </p:custDataLst>
          </p:nvPr>
        </p:nvSpPr>
        <p:spPr>
          <a:xfrm>
            <a:off x="6957483" y="1566333"/>
            <a:ext cx="1756833" cy="4392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</a:rPr>
              <a:t>Collections</a:t>
            </a:r>
            <a:endParaRPr lang="en-US" sz="1600" dirty="0"/>
          </a:p>
        </p:txBody>
      </p:sp>
      <p:sp>
        <p:nvSpPr>
          <p:cNvPr id="16" name="Text 14"/>
          <p:cNvSpPr/>
          <p:nvPr>
            <p:custDataLst>
              <p:tags r:id="rId9"/>
            </p:custDataLst>
          </p:nvPr>
        </p:nvSpPr>
        <p:spPr>
          <a:xfrm>
            <a:off x="6430645" y="2325370"/>
            <a:ext cx="2284095" cy="558165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00" dirty="0">
                <a:solidFill>
                  <a:srgbClr val="888888"/>
                </a:solidFill>
              </a:rPr>
              <a:t>Create and manage custom movie collections with privacy controls</a:t>
            </a:r>
            <a:endParaRPr lang="en-US" sz="1200" dirty="0"/>
          </a:p>
        </p:txBody>
      </p:sp>
      <p:sp>
        <p:nvSpPr>
          <p:cNvPr id="17" name="Shape 15"/>
          <p:cNvSpPr/>
          <p:nvPr>
            <p:custDataLst>
              <p:tags r:id="rId10"/>
            </p:custDataLst>
          </p:nvPr>
        </p:nvSpPr>
        <p:spPr>
          <a:xfrm>
            <a:off x="457200" y="3323167"/>
            <a:ext cx="2635250" cy="1581150"/>
          </a:xfrm>
          <a:prstGeom prst="rect">
            <a:avLst/>
          </a:prstGeom>
          <a:solidFill>
            <a:srgbClr val="1A1A1A"/>
          </a:solidFill>
          <a:ln w="12700">
            <a:solidFill>
              <a:srgbClr val="888888"/>
            </a:solidFill>
            <a:prstDash val="solid"/>
          </a:ln>
        </p:spPr>
        <p:txBody>
          <a:bodyPr/>
          <a:p>
            <a:endParaRPr lang="en-GB" altLang="en-US"/>
          </a:p>
        </p:txBody>
      </p:sp>
      <p:sp>
        <p:nvSpPr>
          <p:cNvPr id="18" name="Text 16"/>
          <p:cNvSpPr/>
          <p:nvPr/>
        </p:nvSpPr>
        <p:spPr>
          <a:xfrm>
            <a:off x="640080" y="3840480"/>
            <a:ext cx="4572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093FB"/>
                </a:solidFill>
              </a:rPr>
              <a:t>👤</a:t>
            </a:r>
            <a:endParaRPr lang="en-US" sz="2400" dirty="0"/>
          </a:p>
        </p:txBody>
      </p:sp>
      <p:sp>
        <p:nvSpPr>
          <p:cNvPr id="19" name="Text 17"/>
          <p:cNvSpPr/>
          <p:nvPr>
            <p:custDataLst>
              <p:tags r:id="rId11"/>
            </p:custDataLst>
          </p:nvPr>
        </p:nvSpPr>
        <p:spPr>
          <a:xfrm>
            <a:off x="1159933" y="3498850"/>
            <a:ext cx="1756833" cy="4392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</a:rPr>
              <a:t>User Authentication</a:t>
            </a:r>
            <a:endParaRPr lang="en-US" sz="1600" dirty="0"/>
          </a:p>
        </p:txBody>
      </p:sp>
      <p:sp>
        <p:nvSpPr>
          <p:cNvPr id="20" name="Text 18"/>
          <p:cNvSpPr/>
          <p:nvPr>
            <p:custDataLst>
              <p:tags r:id="rId12"/>
            </p:custDataLst>
          </p:nvPr>
        </p:nvSpPr>
        <p:spPr>
          <a:xfrm>
            <a:off x="633095" y="4332605"/>
            <a:ext cx="2284095" cy="48387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00" dirty="0">
                <a:solidFill>
                  <a:srgbClr val="888888"/>
                </a:solidFill>
              </a:rPr>
              <a:t>Secure JWT-based registration and login system</a:t>
            </a:r>
            <a:endParaRPr lang="en-US" sz="1200" dirty="0"/>
          </a:p>
        </p:txBody>
      </p:sp>
      <p:sp>
        <p:nvSpPr>
          <p:cNvPr id="21" name="Shape 19"/>
          <p:cNvSpPr/>
          <p:nvPr>
            <p:custDataLst>
              <p:tags r:id="rId13"/>
            </p:custDataLst>
          </p:nvPr>
        </p:nvSpPr>
        <p:spPr>
          <a:xfrm>
            <a:off x="3355975" y="3323167"/>
            <a:ext cx="2635250" cy="1581150"/>
          </a:xfrm>
          <a:prstGeom prst="rect">
            <a:avLst/>
          </a:prstGeom>
          <a:solidFill>
            <a:srgbClr val="1A1A1A"/>
          </a:solidFill>
          <a:ln w="12700">
            <a:solidFill>
              <a:srgbClr val="88888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657600" y="3840480"/>
            <a:ext cx="4572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093FB"/>
                </a:solidFill>
              </a:rPr>
              <a:t>📊</a:t>
            </a:r>
            <a:endParaRPr lang="en-US" sz="2400" dirty="0"/>
          </a:p>
        </p:txBody>
      </p:sp>
      <p:sp>
        <p:nvSpPr>
          <p:cNvPr id="23" name="Text 21"/>
          <p:cNvSpPr/>
          <p:nvPr>
            <p:custDataLst>
              <p:tags r:id="rId14"/>
            </p:custDataLst>
          </p:nvPr>
        </p:nvSpPr>
        <p:spPr>
          <a:xfrm>
            <a:off x="4058708" y="3498850"/>
            <a:ext cx="1756833" cy="4392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</a:rPr>
              <a:t>Analytics Dashboard</a:t>
            </a:r>
            <a:endParaRPr lang="en-US" sz="1600" dirty="0"/>
          </a:p>
        </p:txBody>
      </p:sp>
      <p:sp>
        <p:nvSpPr>
          <p:cNvPr id="24" name="Text 22"/>
          <p:cNvSpPr/>
          <p:nvPr>
            <p:custDataLst>
              <p:tags r:id="rId15"/>
            </p:custDataLst>
          </p:nvPr>
        </p:nvSpPr>
        <p:spPr>
          <a:xfrm>
            <a:off x="3531870" y="4332605"/>
            <a:ext cx="2284095" cy="48387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00" dirty="0">
                <a:solidFill>
                  <a:srgbClr val="888888"/>
                </a:solidFill>
              </a:rPr>
              <a:t>View statistics and insights about your movie collection</a:t>
            </a:r>
            <a:endParaRPr lang="en-US" sz="1200" dirty="0"/>
          </a:p>
        </p:txBody>
      </p:sp>
      <p:sp>
        <p:nvSpPr>
          <p:cNvPr id="25" name="Shape 23"/>
          <p:cNvSpPr/>
          <p:nvPr>
            <p:custDataLst>
              <p:tags r:id="rId16"/>
            </p:custDataLst>
          </p:nvPr>
        </p:nvSpPr>
        <p:spPr>
          <a:xfrm>
            <a:off x="6254750" y="3323167"/>
            <a:ext cx="2635250" cy="1581150"/>
          </a:xfrm>
          <a:prstGeom prst="rect">
            <a:avLst/>
          </a:prstGeom>
          <a:solidFill>
            <a:srgbClr val="1A1A1A"/>
          </a:solidFill>
          <a:ln w="12700">
            <a:solidFill>
              <a:srgbClr val="8888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675120" y="3840480"/>
            <a:ext cx="4572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093FB"/>
                </a:solidFill>
              </a:rPr>
              <a:t>📱</a:t>
            </a:r>
            <a:endParaRPr lang="en-US" sz="2400" dirty="0"/>
          </a:p>
        </p:txBody>
      </p:sp>
      <p:sp>
        <p:nvSpPr>
          <p:cNvPr id="27" name="Text 25"/>
          <p:cNvSpPr/>
          <p:nvPr>
            <p:custDataLst>
              <p:tags r:id="rId17"/>
            </p:custDataLst>
          </p:nvPr>
        </p:nvSpPr>
        <p:spPr>
          <a:xfrm>
            <a:off x="6957483" y="3498850"/>
            <a:ext cx="1756833" cy="4392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</a:rPr>
              <a:t>Responsive Design</a:t>
            </a:r>
            <a:endParaRPr lang="en-US" sz="1600" dirty="0"/>
          </a:p>
        </p:txBody>
      </p:sp>
      <p:sp>
        <p:nvSpPr>
          <p:cNvPr id="28" name="Text 26"/>
          <p:cNvSpPr/>
          <p:nvPr>
            <p:custDataLst>
              <p:tags r:id="rId18"/>
            </p:custDataLst>
          </p:nvPr>
        </p:nvSpPr>
        <p:spPr>
          <a:xfrm>
            <a:off x="6430645" y="4332605"/>
            <a:ext cx="2284095" cy="48387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00" dirty="0">
                <a:solidFill>
                  <a:srgbClr val="888888"/>
                </a:solidFill>
              </a:rPr>
              <a:t>Works seamlessly across mobile, tablet, and desktop devices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0" y="6263640"/>
            <a:ext cx="9144000" cy="137160"/>
          </a:xfrm>
          <a:prstGeom prst="rect">
            <a:avLst/>
          </a:prstGeom>
          <a:solidFill>
            <a:srgbClr val="764BA2"/>
          </a:solidFill>
        </p:spPr>
      </p:sp>
      <p:sp>
        <p:nvSpPr>
          <p:cNvPr id="30" name="Text 28"/>
          <p:cNvSpPr/>
          <p:nvPr/>
        </p:nvSpPr>
        <p:spPr>
          <a:xfrm>
            <a:off x="457200" y="6217920"/>
            <a:ext cx="82296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888888"/>
                </a:solidFill>
              </a:rPr>
              <a:t>CineMaster Pro - Technical Architecture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0F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667EEA"/>
          </a:solidFill>
        </p:spPr>
      </p:sp>
      <p:sp>
        <p:nvSpPr>
          <p:cNvPr id="3" name="Text 1"/>
          <p:cNvSpPr/>
          <p:nvPr/>
        </p:nvSpPr>
        <p:spPr>
          <a:xfrm>
            <a:off x="8686800" y="182880"/>
            <a:ext cx="457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888888"/>
                </a:solidFill>
              </a:rPr>
              <a:t>11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667EEA"/>
                </a:solidFill>
              </a:rPr>
              <a:t>Security Architecture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995045"/>
            <a:ext cx="5029200" cy="4093845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2200" b="1" dirty="0">
                <a:solidFill>
                  <a:srgbClr val="FFFFFF"/>
                </a:solidFill>
              </a:rPr>
              <a:t>Frontend Security:</a:t>
            </a:r>
            <a:endParaRPr lang="en-US" sz="2200" dirty="0"/>
          </a:p>
          <a:p>
            <a:pPr marL="685800" lvl="1" indent="-342900">
              <a:lnSpc>
                <a:spcPts val="2400"/>
              </a:lnSpc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</a:rPr>
              <a:t>• Token storage in LocalStorage</a:t>
            </a:r>
            <a:endParaRPr lang="en-US" sz="2200" dirty="0"/>
          </a:p>
          <a:p>
            <a:pPr marL="685800" lvl="1" indent="-342900">
              <a:lnSpc>
                <a:spcPts val="2400"/>
              </a:lnSpc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</a:rPr>
              <a:t>• HTTPS communication</a:t>
            </a:r>
            <a:endParaRPr lang="en-US" sz="2200" dirty="0"/>
          </a:p>
          <a:p>
            <a:pPr marL="685800" lvl="1" indent="-342900">
              <a:lnSpc>
                <a:spcPts val="2400"/>
              </a:lnSpc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</a:rPr>
              <a:t>• Input validation</a:t>
            </a:r>
            <a:endParaRPr lang="en-US" sz="2200" dirty="0"/>
          </a:p>
          <a:p>
            <a:pPr marL="0" lvl="1" indent="0">
              <a:lnSpc>
                <a:spcPts val="2400"/>
              </a:lnSpc>
              <a:buSzPct val="100000"/>
              <a:buNone/>
            </a:pPr>
            <a:r>
              <a:rPr lang="en-US" sz="1800" dirty="0">
                <a:solidFill>
                  <a:srgbClr val="FFFFFF"/>
                </a:solidFill>
              </a:rPr>
              <a:t>• XSS protection</a:t>
            </a:r>
            <a:endParaRPr lang="en-US" sz="2200" dirty="0"/>
          </a:p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2200" b="1" dirty="0">
                <a:solidFill>
                  <a:srgbClr val="FFFFFF"/>
                </a:solidFill>
              </a:rPr>
              <a:t>Backend Security:</a:t>
            </a:r>
            <a:endParaRPr lang="en-US" sz="2200" dirty="0"/>
          </a:p>
          <a:p>
            <a:pPr marL="685800" lvl="1" indent="-342900">
              <a:lnSpc>
                <a:spcPts val="2400"/>
              </a:lnSpc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</a:rPr>
              <a:t>• Helmet - HTTP header security</a:t>
            </a:r>
            <a:endParaRPr lang="en-US" sz="2200" dirty="0"/>
          </a:p>
          <a:p>
            <a:pPr marL="685800" lvl="1" indent="-342900">
              <a:lnSpc>
                <a:spcPts val="2400"/>
              </a:lnSpc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</a:rPr>
              <a:t>• CORS - Cross-origin resource sharing</a:t>
            </a:r>
            <a:endParaRPr lang="en-US" sz="2200" dirty="0"/>
          </a:p>
          <a:p>
            <a:pPr marL="685800" lvl="1" indent="-342900">
              <a:lnSpc>
                <a:spcPts val="2400"/>
              </a:lnSpc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</a:rPr>
              <a:t>• Rate Limiting - Request throttling</a:t>
            </a:r>
            <a:endParaRPr lang="en-US" sz="2200" dirty="0"/>
          </a:p>
          <a:p>
            <a:pPr marL="685800" lvl="1" indent="-342900">
              <a:lnSpc>
                <a:spcPts val="2400"/>
              </a:lnSpc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</a:rPr>
              <a:t>• JWT Authentication - Token-based auth</a:t>
            </a:r>
            <a:endParaRPr lang="en-US" sz="2200" dirty="0"/>
          </a:p>
          <a:p>
            <a:pPr marL="685800" lvl="1" indent="-342900">
              <a:lnSpc>
                <a:spcPts val="2400"/>
              </a:lnSpc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</a:rPr>
              <a:t>• Input Sanitization - Data validation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5943600" y="1371600"/>
            <a:ext cx="2743200" cy="3657600"/>
          </a:xfrm>
          <a:prstGeom prst="rect">
            <a:avLst/>
          </a:prstGeom>
          <a:noFill/>
          <a:ln w="25400">
            <a:solidFill>
              <a:srgbClr val="888888"/>
            </a:solidFill>
            <a:prstDash val="dash"/>
          </a:ln>
        </p:spPr>
      </p:sp>
      <p:sp>
        <p:nvSpPr>
          <p:cNvPr id="7" name="Text 5"/>
          <p:cNvSpPr/>
          <p:nvPr/>
        </p:nvSpPr>
        <p:spPr>
          <a:xfrm>
            <a:off x="5943600" y="1371600"/>
            <a:ext cx="2743200" cy="3657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888888"/>
                </a:solidFill>
              </a:rPr>
              <a:t>📸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888888"/>
                </a:solidFill>
              </a:rPr>
              <a:t>IMAGE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888888"/>
                </a:solidFill>
              </a:rPr>
              <a:t>PLACEHOLDER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943600" y="5212080"/>
            <a:ext cx="27432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888888"/>
                </a:solidFill>
              </a:rPr>
              <a:t>Security Layers Diagram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0" y="6263640"/>
            <a:ext cx="9144000" cy="137160"/>
          </a:xfrm>
          <a:prstGeom prst="rect">
            <a:avLst/>
          </a:prstGeom>
          <a:solidFill>
            <a:srgbClr val="764BA2"/>
          </a:solidFill>
        </p:spPr>
      </p:sp>
      <p:sp>
        <p:nvSpPr>
          <p:cNvPr id="10" name="Text 8"/>
          <p:cNvSpPr/>
          <p:nvPr/>
        </p:nvSpPr>
        <p:spPr>
          <a:xfrm>
            <a:off x="457200" y="6217920"/>
            <a:ext cx="82296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888888"/>
                </a:solidFill>
              </a:rPr>
              <a:t>CineMaster Pro - Technical Architecture</a:t>
            </a:r>
            <a:endParaRPr lang="en-US" sz="1200" dirty="0"/>
          </a:p>
        </p:txBody>
      </p:sp>
      <p:pic>
        <p:nvPicPr>
          <p:cNvPr id="12" name="Picture 11" descr="Screenshot 2025-11-04 08214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69255" y="471805"/>
            <a:ext cx="3373120" cy="4617085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0F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667EEA"/>
          </a:solidFill>
        </p:spPr>
      </p:sp>
      <p:sp>
        <p:nvSpPr>
          <p:cNvPr id="3" name="Text 1"/>
          <p:cNvSpPr/>
          <p:nvPr/>
        </p:nvSpPr>
        <p:spPr>
          <a:xfrm>
            <a:off x="8686800" y="182880"/>
            <a:ext cx="457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888888"/>
                </a:solidFill>
              </a:rPr>
              <a:t>12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667EEA"/>
                </a:solidFill>
              </a:rPr>
              <a:t>Performance Optimization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04800" y="1128395"/>
            <a:ext cx="5029200" cy="3729355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2200" b="1" dirty="0">
                <a:solidFill>
                  <a:srgbClr val="FFFFFF"/>
                </a:solidFill>
              </a:rPr>
              <a:t>Frontend Optimization:</a:t>
            </a:r>
            <a:endParaRPr lang="en-US" sz="2200" dirty="0"/>
          </a:p>
          <a:p>
            <a:pPr marL="685800" lvl="1" indent="-342900">
              <a:lnSpc>
                <a:spcPts val="2400"/>
              </a:lnSpc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</a:rPr>
              <a:t>• Code Splitting - Lazy loading components</a:t>
            </a:r>
            <a:endParaRPr lang="en-US" sz="2200" dirty="0"/>
          </a:p>
          <a:p>
            <a:pPr marL="685800" lvl="1" indent="-342900">
              <a:lnSpc>
                <a:spcPts val="2400"/>
              </a:lnSpc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</a:rPr>
              <a:t>• Image Optimization - Responsive images</a:t>
            </a:r>
            <a:endParaRPr lang="en-US" sz="2200" dirty="0"/>
          </a:p>
          <a:p>
            <a:pPr marL="685800" lvl="1" indent="-342900">
              <a:lnSpc>
                <a:spcPts val="2400"/>
              </a:lnSpc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</a:rPr>
              <a:t>• Caching - LocalStorage for data</a:t>
            </a:r>
            <a:endParaRPr lang="en-US" sz="2200" dirty="0"/>
          </a:p>
          <a:p>
            <a:pPr marL="0" lvl="1" indent="0">
              <a:lnSpc>
                <a:spcPts val="2400"/>
              </a:lnSpc>
              <a:buSzPct val="100000"/>
              <a:buNone/>
            </a:pPr>
            <a:r>
              <a:rPr lang="en-US" sz="1800" dirty="0">
                <a:solidFill>
                  <a:srgbClr val="FFFFFF"/>
                </a:solidFill>
              </a:rPr>
              <a:t>• Bundle Optimization - Vite build process</a:t>
            </a:r>
            <a:endParaRPr lang="en-US" sz="2200" dirty="0"/>
          </a:p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2200" b="1" dirty="0">
                <a:solidFill>
                  <a:srgbClr val="FFFFFF"/>
                </a:solidFill>
              </a:rPr>
              <a:t>Backend Optimization:</a:t>
            </a:r>
            <a:endParaRPr lang="en-US" sz="2200" dirty="0"/>
          </a:p>
          <a:p>
            <a:pPr marL="685800" lvl="1" indent="-342900">
              <a:lnSpc>
                <a:spcPts val="2400"/>
              </a:lnSpc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</a:rPr>
              <a:t>• Database Indexing - Query performance</a:t>
            </a:r>
            <a:endParaRPr lang="en-US" sz="2200" dirty="0"/>
          </a:p>
          <a:p>
            <a:pPr marL="685800" lvl="1" indent="-342900">
              <a:lnSpc>
                <a:spcPts val="2400"/>
              </a:lnSpc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</a:rPr>
              <a:t>• Connection Pooling - Database efficiency</a:t>
            </a:r>
            <a:endParaRPr lang="en-US" sz="2200" dirty="0"/>
          </a:p>
          <a:p>
            <a:pPr marL="685800" lvl="1" indent="-342900">
              <a:lnSpc>
                <a:spcPts val="2400"/>
              </a:lnSpc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</a:rPr>
              <a:t>• Pagination - Large dataset handling</a:t>
            </a:r>
            <a:endParaRPr lang="en-US" sz="2200" dirty="0"/>
          </a:p>
          <a:p>
            <a:pPr marL="685800" lvl="1" indent="-342900">
              <a:lnSpc>
                <a:spcPts val="2400"/>
              </a:lnSpc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</a:rPr>
              <a:t>• Query Optimization - Efficient SQL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5943600" y="5212080"/>
            <a:ext cx="27432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888888"/>
                </a:solidFill>
              </a:rPr>
              <a:t>Performance Optimization Diagram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0" y="6263640"/>
            <a:ext cx="9144000" cy="137160"/>
          </a:xfrm>
          <a:prstGeom prst="rect">
            <a:avLst/>
          </a:prstGeom>
          <a:solidFill>
            <a:srgbClr val="764BA2"/>
          </a:solidFill>
        </p:spPr>
      </p:sp>
      <p:sp>
        <p:nvSpPr>
          <p:cNvPr id="10" name="Text 8"/>
          <p:cNvSpPr/>
          <p:nvPr/>
        </p:nvSpPr>
        <p:spPr>
          <a:xfrm>
            <a:off x="457200" y="6217920"/>
            <a:ext cx="82296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888888"/>
                </a:solidFill>
              </a:rPr>
              <a:t>CineMaster Pro - Technical Architecture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0F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667EEA"/>
          </a:solidFill>
        </p:spPr>
      </p:sp>
      <p:sp>
        <p:nvSpPr>
          <p:cNvPr id="3" name="Text 1"/>
          <p:cNvSpPr/>
          <p:nvPr/>
        </p:nvSpPr>
        <p:spPr>
          <a:xfrm>
            <a:off x="8686800" y="182880"/>
            <a:ext cx="457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888888"/>
                </a:solidFill>
              </a:rPr>
              <a:t>13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667EEA"/>
                </a:solidFill>
              </a:rPr>
              <a:t>Deployment Architecture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985520"/>
            <a:ext cx="5029200" cy="4023995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2200" b="1" dirty="0">
                <a:solidFill>
                  <a:srgbClr val="FFFFFF"/>
                </a:solidFill>
              </a:rPr>
              <a:t>Production Deployment:</a:t>
            </a:r>
            <a:endParaRPr lang="en-US" sz="2200" dirty="0"/>
          </a:p>
          <a:p>
            <a:pPr marL="685800" lvl="1" indent="-342900">
              <a:lnSpc>
                <a:spcPts val="2400"/>
              </a:lnSpc>
              <a:buSzPct val="100000"/>
              <a:buChar char="•"/>
            </a:pPr>
            <a:r>
              <a:rPr lang="en-US" sz="1800" dirty="0">
                <a:solidFill>
                  <a:srgbClr val="48BB78"/>
                </a:solidFill>
              </a:rPr>
              <a:t>• Frontend - Netlify (Static hosting)</a:t>
            </a:r>
            <a:endParaRPr lang="en-US" sz="2200" dirty="0"/>
          </a:p>
          <a:p>
            <a:pPr marL="685800" lvl="1" indent="-342900">
              <a:lnSpc>
                <a:spcPts val="2400"/>
              </a:lnSpc>
              <a:buSzPct val="100000"/>
              <a:buChar char="•"/>
            </a:pPr>
            <a:r>
              <a:rPr lang="en-US" sz="1800" dirty="0">
                <a:solidFill>
                  <a:srgbClr val="ED8936"/>
                </a:solidFill>
              </a:rPr>
              <a:t>• Backend - Render (Node.js hosting)</a:t>
            </a:r>
            <a:endParaRPr lang="en-US" sz="2200" dirty="0"/>
          </a:p>
          <a:p>
            <a:pPr marL="685800" lvl="1" indent="-342900">
              <a:lnSpc>
                <a:spcPts val="2400"/>
              </a:lnSpc>
              <a:buSzPct val="100000"/>
              <a:buChar char="•"/>
            </a:pPr>
            <a:r>
              <a:rPr lang="en-US" sz="1800" dirty="0">
                <a:solidFill>
                  <a:srgbClr val="F093FB"/>
                </a:solidFill>
              </a:rPr>
              <a:t>• Database - Neon (PostgreSQL hosting)</a:t>
            </a:r>
            <a:endParaRPr lang="en-US" sz="2200" dirty="0"/>
          </a:p>
          <a:p>
            <a:pPr marL="685800" lvl="1" indent="-342900">
              <a:lnSpc>
                <a:spcPts val="2400"/>
              </a:lnSpc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</a:rPr>
              <a:t>• CDN - Content delivery network</a:t>
            </a:r>
            <a:endParaRPr lang="en-US" sz="2200" dirty="0"/>
          </a:p>
          <a:p>
            <a:pPr marL="0" lvl="1" indent="0">
              <a:lnSpc>
                <a:spcPts val="2400"/>
              </a:lnSpc>
              <a:buSzPct val="100000"/>
              <a:buNone/>
            </a:pPr>
            <a:r>
              <a:rPr lang="en-US" sz="1800" dirty="0">
                <a:solidFill>
                  <a:srgbClr val="FFFFFF"/>
                </a:solidFill>
              </a:rPr>
              <a:t>• SSL - Secure connections</a:t>
            </a:r>
            <a:endParaRPr lang="en-US" sz="2200" dirty="0"/>
          </a:p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2200" b="1" dirty="0">
                <a:solidFill>
                  <a:srgbClr val="FFFFFF"/>
                </a:solidFill>
              </a:rPr>
              <a:t>Development Environment:</a:t>
            </a:r>
            <a:endParaRPr lang="en-US" sz="2200" dirty="0"/>
          </a:p>
          <a:p>
            <a:pPr marL="685800" lvl="1" indent="-342900">
              <a:lnSpc>
                <a:spcPts val="2400"/>
              </a:lnSpc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</a:rPr>
              <a:t>• Frontend - Vite development server (port 3000)</a:t>
            </a:r>
            <a:endParaRPr lang="en-US" sz="2200" dirty="0"/>
          </a:p>
          <a:p>
            <a:pPr marL="685800" lvl="1" indent="-342900">
              <a:lnSpc>
                <a:spcPts val="2400"/>
              </a:lnSpc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</a:rPr>
              <a:t>• Backend - Node.js with nodemon (port 5000)</a:t>
            </a:r>
            <a:endParaRPr lang="en-US" sz="2200" dirty="0"/>
          </a:p>
          <a:p>
            <a:pPr marL="685800" lvl="1" indent="-342900">
              <a:lnSpc>
                <a:spcPts val="2400"/>
              </a:lnSpc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</a:rPr>
              <a:t>• Database - Local PostgreSQL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5943600" y="5212080"/>
            <a:ext cx="27432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888888"/>
                </a:solidFill>
              </a:rPr>
              <a:t>Deployment Architecture Diagram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0" y="6263640"/>
            <a:ext cx="9144000" cy="137160"/>
          </a:xfrm>
          <a:prstGeom prst="rect">
            <a:avLst/>
          </a:prstGeom>
          <a:solidFill>
            <a:srgbClr val="764BA2"/>
          </a:solidFill>
        </p:spPr>
      </p:sp>
      <p:sp>
        <p:nvSpPr>
          <p:cNvPr id="10" name="Text 8"/>
          <p:cNvSpPr/>
          <p:nvPr/>
        </p:nvSpPr>
        <p:spPr>
          <a:xfrm>
            <a:off x="457200" y="6217920"/>
            <a:ext cx="82296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888888"/>
                </a:solidFill>
              </a:rPr>
              <a:t>CineMaster Pro - Technical Architecture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0F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667EEA"/>
          </a:solidFill>
        </p:spPr>
      </p:sp>
      <p:sp>
        <p:nvSpPr>
          <p:cNvPr id="3" name="Text 1"/>
          <p:cNvSpPr/>
          <p:nvPr/>
        </p:nvSpPr>
        <p:spPr>
          <a:xfrm>
            <a:off x="8686800" y="182880"/>
            <a:ext cx="457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888888"/>
                </a:solidFill>
              </a:rPr>
              <a:t>14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667EEA"/>
                </a:solidFill>
              </a:rPr>
              <a:t>System Integration Points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571500"/>
            <a:ext cx="5029200" cy="45720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2200" b="1" dirty="0">
                <a:solidFill>
                  <a:srgbClr val="FFFFFF"/>
                </a:solidFill>
              </a:rPr>
              <a:t>External APIs:</a:t>
            </a:r>
            <a:endParaRPr lang="en-US" sz="2200" dirty="0"/>
          </a:p>
          <a:p>
            <a:pPr marL="685800" lvl="1" indent="-342900">
              <a:lnSpc>
                <a:spcPts val="2400"/>
              </a:lnSpc>
              <a:buSzPct val="100000"/>
              <a:buChar char="•"/>
            </a:pPr>
            <a:r>
              <a:rPr lang="en-US" sz="1800" dirty="0">
                <a:solidFill>
                  <a:srgbClr val="48BB78"/>
                </a:solidFill>
              </a:rPr>
              <a:t>• TMDB API - Movie data fetching</a:t>
            </a:r>
            <a:endParaRPr lang="en-US" sz="2200" dirty="0"/>
          </a:p>
          <a:p>
            <a:pPr marL="685800" lvl="1" indent="-342900">
              <a:lnSpc>
                <a:spcPts val="2400"/>
              </a:lnSpc>
              <a:buSzPct val="100000"/>
              <a:buChar char="•"/>
            </a:pPr>
            <a:r>
              <a:rPr lang="en-US" sz="1800" dirty="0">
                <a:solidFill>
                  <a:srgbClr val="ED8936"/>
                </a:solidFill>
              </a:rPr>
              <a:t>• OAuth Providers - Social login (future)</a:t>
            </a:r>
            <a:endParaRPr lang="en-US" sz="2200" dirty="0"/>
          </a:p>
          <a:p>
            <a:pPr marL="0" lvl="1" indent="0">
              <a:lnSpc>
                <a:spcPts val="2400"/>
              </a:lnSpc>
              <a:buSzPct val="100000"/>
              <a:buNone/>
            </a:pPr>
            <a:r>
              <a:rPr lang="en-US" sz="1800" dirty="0">
                <a:solidFill>
                  <a:srgbClr val="F093FB"/>
                </a:solidFill>
              </a:rPr>
              <a:t>• Payment Gateways - Premium features (future)</a:t>
            </a:r>
            <a:endParaRPr lang="en-US" sz="2200" dirty="0"/>
          </a:p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2200" b="1" dirty="0">
                <a:solidFill>
                  <a:srgbClr val="FFFFFF"/>
                </a:solidFill>
              </a:rPr>
              <a:t>Internal Integrations:</a:t>
            </a:r>
            <a:endParaRPr lang="en-US" sz="2200" dirty="0"/>
          </a:p>
          <a:p>
            <a:pPr marL="685800" lvl="1" indent="-342900">
              <a:lnSpc>
                <a:spcPts val="2400"/>
              </a:lnSpc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</a:rPr>
              <a:t>• Frontend ↔ Backend - REST API</a:t>
            </a:r>
            <a:endParaRPr lang="en-US" sz="2200" dirty="0"/>
          </a:p>
          <a:p>
            <a:pPr marL="685800" lvl="1" indent="-342900">
              <a:lnSpc>
                <a:spcPts val="2400"/>
              </a:lnSpc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</a:rPr>
              <a:t>• Backend ↔ Database - PostgreSQL driver</a:t>
            </a:r>
            <a:endParaRPr lang="en-US" sz="2200" dirty="0"/>
          </a:p>
          <a:p>
            <a:pPr marL="685800" lvl="1" indent="-342900">
              <a:lnSpc>
                <a:spcPts val="2400"/>
              </a:lnSpc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</a:rPr>
              <a:t>• Authentication - JWT token system</a:t>
            </a:r>
            <a:endParaRPr lang="en-US" sz="2200" dirty="0"/>
          </a:p>
          <a:p>
            <a:pPr marL="685800" lvl="1" indent="-342900">
              <a:lnSpc>
                <a:spcPts val="2400"/>
              </a:lnSpc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</a:rPr>
              <a:t>• File Storage - Poster images (future)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5943600" y="1371600"/>
            <a:ext cx="2743200" cy="3657600"/>
          </a:xfrm>
          <a:prstGeom prst="rect">
            <a:avLst/>
          </a:prstGeom>
          <a:noFill/>
          <a:ln w="25400">
            <a:solidFill>
              <a:srgbClr val="888888"/>
            </a:solidFill>
            <a:prstDash val="dash"/>
          </a:ln>
        </p:spPr>
      </p:sp>
      <p:sp>
        <p:nvSpPr>
          <p:cNvPr id="7" name="Text 5"/>
          <p:cNvSpPr/>
          <p:nvPr/>
        </p:nvSpPr>
        <p:spPr>
          <a:xfrm>
            <a:off x="5943600" y="1371600"/>
            <a:ext cx="2743200" cy="3657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888888"/>
                </a:solidFill>
              </a:rPr>
              <a:t>📸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888888"/>
                </a:solidFill>
              </a:rPr>
              <a:t>IMAGE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888888"/>
                </a:solidFill>
              </a:rPr>
              <a:t>PLACEHOLDER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943600" y="5212080"/>
            <a:ext cx="27432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888888"/>
                </a:solidFill>
              </a:rPr>
              <a:t>Integration Diagram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0" y="6263640"/>
            <a:ext cx="9144000" cy="137160"/>
          </a:xfrm>
          <a:prstGeom prst="rect">
            <a:avLst/>
          </a:prstGeom>
          <a:solidFill>
            <a:srgbClr val="764BA2"/>
          </a:solidFill>
        </p:spPr>
      </p:sp>
      <p:sp>
        <p:nvSpPr>
          <p:cNvPr id="10" name="Text 8"/>
          <p:cNvSpPr/>
          <p:nvPr/>
        </p:nvSpPr>
        <p:spPr>
          <a:xfrm>
            <a:off x="457200" y="6217920"/>
            <a:ext cx="82296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888888"/>
                </a:solidFill>
              </a:rPr>
              <a:t>CineMaster Pro - Technical Architecture</a:t>
            </a:r>
            <a:endParaRPr lang="en-US" sz="1200" dirty="0"/>
          </a:p>
        </p:txBody>
      </p:sp>
      <p:pic>
        <p:nvPicPr>
          <p:cNvPr id="11" name="Picture 10" descr="Screenshot 2025-11-04 08242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50180" y="502920"/>
            <a:ext cx="3799205" cy="4638675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0F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667EEA"/>
          </a:solidFill>
        </p:spPr>
      </p:sp>
      <p:sp>
        <p:nvSpPr>
          <p:cNvPr id="3" name="Text 1"/>
          <p:cNvSpPr/>
          <p:nvPr/>
        </p:nvSpPr>
        <p:spPr>
          <a:xfrm>
            <a:off x="8686800" y="182880"/>
            <a:ext cx="457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888888"/>
                </a:solidFill>
              </a:rPr>
              <a:t>15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667EEA"/>
                </a:solidFill>
              </a:rPr>
              <a:t>Technical Architecture Summary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006475"/>
            <a:ext cx="5029200" cy="4137025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2200" b="1" dirty="0">
                <a:solidFill>
                  <a:srgbClr val="FFFFFF"/>
                </a:solidFill>
              </a:rPr>
              <a:t>CineMaster Pro demonstrates:</a:t>
            </a:r>
            <a:endParaRPr lang="en-US" sz="2200" dirty="0"/>
          </a:p>
          <a:p>
            <a:pPr marL="685800" lvl="1" indent="-342900">
              <a:lnSpc>
                <a:spcPts val="2400"/>
              </a:lnSpc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</a:rPr>
              <a:t>• Modern Full-Stack Development with React and Node.js</a:t>
            </a:r>
            <a:endParaRPr lang="en-US" sz="2200" dirty="0"/>
          </a:p>
          <a:p>
            <a:pPr marL="685800" lvl="1" indent="-342900">
              <a:lnSpc>
                <a:spcPts val="2400"/>
              </a:lnSpc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</a:rPr>
              <a:t>• Relational Database Design with PostgreSQL</a:t>
            </a:r>
            <a:endParaRPr lang="en-US" sz="2200" dirty="0"/>
          </a:p>
          <a:p>
            <a:pPr marL="685800" lvl="1" indent="-342900">
              <a:lnSpc>
                <a:spcPts val="2400"/>
              </a:lnSpc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</a:rPr>
              <a:t>• Secure Authentication with JWT</a:t>
            </a:r>
            <a:endParaRPr lang="en-US" sz="2200" dirty="0"/>
          </a:p>
          <a:p>
            <a:pPr marL="685800" lvl="1" indent="-342900">
              <a:lnSpc>
                <a:spcPts val="2400"/>
              </a:lnSpc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</a:rPr>
              <a:t>• Responsive User Interface with CSS</a:t>
            </a:r>
            <a:endParaRPr lang="en-US" sz="2200" dirty="0"/>
          </a:p>
          <a:p>
            <a:pPr marL="0" lvl="1" indent="0">
              <a:lnSpc>
                <a:spcPts val="2400"/>
              </a:lnSpc>
              <a:buSzPct val="100000"/>
              <a:buNone/>
            </a:pPr>
            <a:r>
              <a:rPr lang="en-US" sz="1800" dirty="0">
                <a:solidFill>
                  <a:srgbClr val="FFFFFF"/>
                </a:solidFill>
              </a:rPr>
              <a:t>• Scalable Architecture ready for growth</a:t>
            </a:r>
            <a:endParaRPr lang="en-US" sz="2200" dirty="0"/>
          </a:p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2200" b="1" dirty="0">
                <a:solidFill>
                  <a:srgbClr val="FFFFFF"/>
                </a:solidFill>
              </a:rPr>
              <a:t>Key Takeaways:</a:t>
            </a:r>
            <a:endParaRPr lang="en-US" sz="2200" dirty="0"/>
          </a:p>
          <a:p>
            <a:pPr marL="685800" lvl="1" indent="-342900">
              <a:lnSpc>
                <a:spcPts val="2400"/>
              </a:lnSpc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</a:rPr>
              <a:t>• Clean separation of concerns</a:t>
            </a:r>
            <a:endParaRPr lang="en-US" sz="2200" dirty="0"/>
          </a:p>
          <a:p>
            <a:pPr marL="685800" lvl="1" indent="-342900">
              <a:lnSpc>
                <a:spcPts val="2400"/>
              </a:lnSpc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</a:rPr>
              <a:t>• Robust error handling</a:t>
            </a:r>
            <a:endParaRPr lang="en-US" sz="2200" dirty="0"/>
          </a:p>
          <a:p>
            <a:pPr marL="685800" lvl="1" indent="-342900">
              <a:lnSpc>
                <a:spcPts val="2400"/>
              </a:lnSpc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</a:rPr>
              <a:t>• Performance optimization</a:t>
            </a:r>
            <a:endParaRPr lang="en-US" sz="2200" dirty="0"/>
          </a:p>
          <a:p>
            <a:pPr marL="685800" lvl="1" indent="-342900">
              <a:lnSpc>
                <a:spcPts val="2400"/>
              </a:lnSpc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</a:rPr>
              <a:t>• Security-first approach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5943600" y="5212080"/>
            <a:ext cx="27432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888888"/>
                </a:solidFill>
              </a:rPr>
              <a:t>Architecture Summary Diagram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0" y="6263640"/>
            <a:ext cx="9144000" cy="137160"/>
          </a:xfrm>
          <a:prstGeom prst="rect">
            <a:avLst/>
          </a:prstGeom>
          <a:solidFill>
            <a:srgbClr val="764BA2"/>
          </a:solidFill>
        </p:spPr>
      </p:sp>
      <p:sp>
        <p:nvSpPr>
          <p:cNvPr id="10" name="Text 8"/>
          <p:cNvSpPr/>
          <p:nvPr/>
        </p:nvSpPr>
        <p:spPr>
          <a:xfrm>
            <a:off x="457200" y="6217920"/>
            <a:ext cx="82296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888888"/>
                </a:solidFill>
              </a:rPr>
              <a:t>CineMaster Pro - Technical Architecture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0F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667EEA"/>
          </a:solidFill>
        </p:spPr>
      </p:sp>
      <p:sp>
        <p:nvSpPr>
          <p:cNvPr id="3" name="Text 1"/>
          <p:cNvSpPr/>
          <p:nvPr/>
        </p:nvSpPr>
        <p:spPr>
          <a:xfrm>
            <a:off x="8686800" y="182880"/>
            <a:ext cx="457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888888"/>
                </a:solidFill>
              </a:rPr>
              <a:t>16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243840"/>
            <a:ext cx="822960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667EEA"/>
                </a:solidFill>
              </a:rPr>
              <a:t>Questions &amp; Discussion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539115"/>
            <a:ext cx="5029200" cy="4754245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dirty="0">
                <a:solidFill>
                  <a:srgbClr val="FFFFFF"/>
                </a:solidFill>
              </a:rPr>
              <a:t>Thank you for your attention!</a:t>
            </a:r>
            <a:endParaRPr lang="en-US" sz="1800" dirty="0"/>
          </a:p>
          <a:p>
            <a:pPr marL="0" indent="0">
              <a:lnSpc>
                <a:spcPts val="2400"/>
              </a:lnSpc>
              <a:buNone/>
            </a:pPr>
            <a:endParaRPr lang="en-US" sz="1800" dirty="0"/>
          </a:p>
          <a:p>
            <a:pPr marL="0" indent="0">
              <a:lnSpc>
                <a:spcPts val="2400"/>
              </a:lnSpc>
              <a:buNone/>
            </a:pPr>
            <a:r>
              <a:rPr lang="en-US" sz="1800" dirty="0">
                <a:solidFill>
                  <a:srgbClr val="FFFFFF"/>
                </a:solidFill>
              </a:rPr>
              <a:t>Contact Information:</a:t>
            </a:r>
            <a:endParaRPr lang="en-US" sz="1800" dirty="0"/>
          </a:p>
          <a:p>
            <a:pPr marL="0" indent="0">
              <a:lnSpc>
                <a:spcPts val="2400"/>
              </a:lnSpc>
              <a:buNone/>
            </a:pPr>
            <a:r>
              <a:rPr lang="en-US" sz="1800" dirty="0">
                <a:solidFill>
                  <a:srgbClr val="FFFFFF"/>
                </a:solidFill>
              </a:rPr>
              <a:t>• Email: [sprasannan07@gmail.com]</a:t>
            </a:r>
            <a:endParaRPr lang="en-US" sz="1800" dirty="0"/>
          </a:p>
          <a:p>
            <a:pPr marL="0" indent="0">
              <a:lnSpc>
                <a:spcPts val="2400"/>
              </a:lnSpc>
              <a:buNone/>
            </a:pPr>
            <a:r>
              <a:rPr lang="en-US" sz="1800" dirty="0">
                <a:solidFill>
                  <a:srgbClr val="FFFFFF"/>
                </a:solidFill>
              </a:rPr>
              <a:t>• GitHub: [prasannan]</a:t>
            </a:r>
            <a:endParaRPr lang="en-US" sz="1800" dirty="0"/>
          </a:p>
          <a:p>
            <a:pPr marL="0" indent="0">
              <a:lnSpc>
                <a:spcPts val="2400"/>
              </a:lnSpc>
              <a:buNone/>
            </a:pPr>
            <a:r>
              <a:rPr lang="en-US" sz="1800" dirty="0">
                <a:solidFill>
                  <a:srgbClr val="FFFFFF"/>
                </a:solidFill>
              </a:rPr>
              <a:t>• Phone_No: [9123525715]</a:t>
            </a:r>
            <a:endParaRPr lang="en-US" sz="1800" dirty="0"/>
          </a:p>
          <a:p>
            <a:pPr marL="0" indent="0">
              <a:lnSpc>
                <a:spcPts val="2400"/>
              </a:lnSpc>
              <a:buNone/>
            </a:pPr>
            <a:endParaRPr lang="en-US" sz="1800" dirty="0"/>
          </a:p>
          <a:p>
            <a:pPr marL="0" indent="0">
              <a:lnSpc>
                <a:spcPts val="2400"/>
              </a:lnSpc>
              <a:buNone/>
            </a:pPr>
            <a:endParaRPr lang="en-US" sz="1800" dirty="0"/>
          </a:p>
          <a:p>
            <a:pPr marL="0" indent="0">
              <a:lnSpc>
                <a:spcPts val="2400"/>
              </a:lnSpc>
              <a:buNone/>
            </a:pPr>
            <a:r>
              <a:rPr lang="en-US" sz="1800" dirty="0">
                <a:solidFill>
                  <a:srgbClr val="FFFFFF"/>
                </a:solidFill>
              </a:rPr>
              <a:t>Any technical questions or feedback?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5943600" y="5212080"/>
            <a:ext cx="27432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888888"/>
                </a:solidFill>
              </a:rPr>
              <a:t>Discussion Illustration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0" y="6263640"/>
            <a:ext cx="9144000" cy="137160"/>
          </a:xfrm>
          <a:prstGeom prst="rect">
            <a:avLst/>
          </a:prstGeom>
          <a:solidFill>
            <a:srgbClr val="764BA2"/>
          </a:solidFill>
        </p:spPr>
      </p:sp>
      <p:sp>
        <p:nvSpPr>
          <p:cNvPr id="10" name="Text 8"/>
          <p:cNvSpPr/>
          <p:nvPr/>
        </p:nvSpPr>
        <p:spPr>
          <a:xfrm>
            <a:off x="457200" y="6217920"/>
            <a:ext cx="82296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888888"/>
                </a:solidFill>
              </a:rPr>
              <a:t>CineMaster Pro - Technical Architecture</a:t>
            </a:r>
            <a:endParaRPr lang="en-US" sz="1200" dirty="0"/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288,&quot;left&quot;:36,&quot;top&quot;:104,&quot;width&quot;:664}"/>
</p:tagLst>
</file>

<file path=ppt/tags/tag2.xml><?xml version="1.0" encoding="utf-8"?>
<p:tagLst xmlns:p="http://schemas.openxmlformats.org/presentationml/2006/main">
  <p:tag name="KSO_WM_DIAGRAM_VIRTUALLY_FRAME" val="{&quot;height&quot;:288,&quot;left&quot;:36,&quot;top&quot;:104,&quot;width&quot;:664}"/>
</p:tagLst>
</file>

<file path=ppt/tags/tag3.xml><?xml version="1.0" encoding="utf-8"?>
<p:tagLst xmlns:p="http://schemas.openxmlformats.org/presentationml/2006/main">
  <p:tag name="KSO_WM_DIAGRAM_VIRTUALLY_FRAME" val="{&quot;height&quot;:288,&quot;left&quot;:36,&quot;top&quot;:104,&quot;width&quot;:664}"/>
</p:tagLst>
</file>

<file path=ppt/tags/tag4.xml><?xml version="1.0" encoding="utf-8"?>
<p:tagLst xmlns:p="http://schemas.openxmlformats.org/presentationml/2006/main">
  <p:tag name="KSO_WM_DIAGRAM_VIRTUALLY_FRAME" val="{&quot;height&quot;:288,&quot;left&quot;:36,&quot;top&quot;:104,&quot;width&quot;:664}"/>
</p:tagLst>
</file>

<file path=ppt/tags/tag5.xml><?xml version="1.0" encoding="utf-8"?>
<p:tagLst xmlns:p="http://schemas.openxmlformats.org/presentationml/2006/main">
  <p:tag name="KSO_WM_DIAGRAM_VIRTUALLY_FRAME" val="{&quot;height&quot;:288,&quot;left&quot;:36,&quot;top&quot;:104,&quot;width&quot;:664}"/>
</p:tagLst>
</file>

<file path=ppt/tags/tag6.xml><?xml version="1.0" encoding="utf-8"?>
<p:tagLst xmlns:p="http://schemas.openxmlformats.org/presentationml/2006/main">
  <p:tag name="KSO_WM_DIAGRAM_VIRTUALLY_FRAME" val="{&quot;height&quot;:288,&quot;left&quot;:36,&quot;top&quot;:104,&quot;width&quot;:664}"/>
</p:tagLst>
</file>

<file path=ppt/tags/tag7.xml><?xml version="1.0" encoding="utf-8"?>
<p:tagLst xmlns:p="http://schemas.openxmlformats.org/presentationml/2006/main">
  <p:tag name="KSO_WM_DIAGRAM_VIRTUALLY_FRAME" val="{&quot;height&quot;:288,&quot;left&quot;:36,&quot;top&quot;:104,&quot;width&quot;:664}"/>
</p:tagLst>
</file>

<file path=ppt/tags/tag8.xml><?xml version="1.0" encoding="utf-8"?>
<p:tagLst xmlns:p="http://schemas.openxmlformats.org/presentationml/2006/main">
  <p:tag name="KSO_WM_DIAGRAM_VIRTUALLY_FRAME" val="{&quot;height&quot;:288,&quot;left&quot;:36,&quot;top&quot;:104,&quot;width&quot;:664}"/>
</p:tagLst>
</file>

<file path=ppt/tags/tag9.xml><?xml version="1.0" encoding="utf-8"?>
<p:tagLst xmlns:p="http://schemas.openxmlformats.org/presentationml/2006/main">
  <p:tag name="KSO_WM_DIAGRAM_VIRTUALLY_FRAME" val="{&quot;height&quot;:288,&quot;left&quot;:36,&quot;top&quot;:104,&quot;width&quot;:664}"/>
</p:tagLst>
</file>

<file path=ppt/tags/tag10.xml><?xml version="1.0" encoding="utf-8"?>
<p:tagLst xmlns:p="http://schemas.openxmlformats.org/presentationml/2006/main">
  <p:tag name="KSO_WM_DIAGRAM_VIRTUALLY_FRAME" val="{&quot;height&quot;:288,&quot;left&quot;:36,&quot;top&quot;:104,&quot;width&quot;:664}"/>
</p:tagLst>
</file>

<file path=ppt/tags/tag11.xml><?xml version="1.0" encoding="utf-8"?>
<p:tagLst xmlns:p="http://schemas.openxmlformats.org/presentationml/2006/main">
  <p:tag name="KSO_WM_DIAGRAM_VIRTUALLY_FRAME" val="{&quot;height&quot;:288,&quot;left&quot;:36,&quot;top&quot;:104,&quot;width&quot;:664}"/>
</p:tagLst>
</file>

<file path=ppt/tags/tag12.xml><?xml version="1.0" encoding="utf-8"?>
<p:tagLst xmlns:p="http://schemas.openxmlformats.org/presentationml/2006/main">
  <p:tag name="KSO_WM_DIAGRAM_VIRTUALLY_FRAME" val="{&quot;height&quot;:288,&quot;left&quot;:36,&quot;top&quot;:104,&quot;width&quot;:664}"/>
</p:tagLst>
</file>

<file path=ppt/tags/tag13.xml><?xml version="1.0" encoding="utf-8"?>
<p:tagLst xmlns:p="http://schemas.openxmlformats.org/presentationml/2006/main">
  <p:tag name="KSO_WM_DIAGRAM_VIRTUALLY_FRAME" val="{&quot;height&quot;:288,&quot;left&quot;:36,&quot;top&quot;:104,&quot;width&quot;:664}"/>
</p:tagLst>
</file>

<file path=ppt/tags/tag14.xml><?xml version="1.0" encoding="utf-8"?>
<p:tagLst xmlns:p="http://schemas.openxmlformats.org/presentationml/2006/main">
  <p:tag name="KSO_WM_DIAGRAM_VIRTUALLY_FRAME" val="{&quot;height&quot;:288,&quot;left&quot;:36,&quot;top&quot;:104,&quot;width&quot;:664}"/>
</p:tagLst>
</file>

<file path=ppt/tags/tag15.xml><?xml version="1.0" encoding="utf-8"?>
<p:tagLst xmlns:p="http://schemas.openxmlformats.org/presentationml/2006/main">
  <p:tag name="KSO_WM_DIAGRAM_VIRTUALLY_FRAME" val="{&quot;height&quot;:288,&quot;left&quot;:36,&quot;top&quot;:104,&quot;width&quot;:664}"/>
</p:tagLst>
</file>

<file path=ppt/tags/tag16.xml><?xml version="1.0" encoding="utf-8"?>
<p:tagLst xmlns:p="http://schemas.openxmlformats.org/presentationml/2006/main">
  <p:tag name="KSO_WM_DIAGRAM_VIRTUALLY_FRAME" val="{&quot;height&quot;:288,&quot;left&quot;:36,&quot;top&quot;:104,&quot;width&quot;:664}"/>
</p:tagLst>
</file>

<file path=ppt/tags/tag17.xml><?xml version="1.0" encoding="utf-8"?>
<p:tagLst xmlns:p="http://schemas.openxmlformats.org/presentationml/2006/main">
  <p:tag name="KSO_WM_DIAGRAM_VIRTUALLY_FRAME" val="{&quot;height&quot;:288,&quot;left&quot;:36,&quot;top&quot;:104,&quot;width&quot;:664}"/>
</p:tagLst>
</file>

<file path=ppt/tags/tag18.xml><?xml version="1.0" encoding="utf-8"?>
<p:tagLst xmlns:p="http://schemas.openxmlformats.org/presentationml/2006/main">
  <p:tag name="KSO_WM_DIAGRAM_VIRTUALLY_FRAME" val="{&quot;height&quot;:288,&quot;left&quot;:36,&quot;top&quot;:104,&quot;width&quot;:664}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6887</Words>
  <Application>WPS Presentation</Application>
  <PresentationFormat>On-screen Show (16:9)</PresentationFormat>
  <Paragraphs>348</Paragraphs>
  <Slides>16</Slides>
  <Notes>16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16</vt:i4>
      </vt:variant>
    </vt:vector>
  </HeadingPairs>
  <TitlesOfParts>
    <vt:vector size="23" baseType="lpstr">
      <vt:lpstr>Arial</vt:lpstr>
      <vt:lpstr>SimSun</vt:lpstr>
      <vt:lpstr>Wingdings</vt:lpstr>
      <vt:lpstr>Calibri</vt:lpstr>
      <vt:lpstr>Microsoft YaHei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CineMaster Pro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CineMaster Pro - Movie Management System</dc:title>
  <dc:creator>CineMaster Pro Team</dc:creator>
  <dc:subject>PptxGenJS Presentation</dc:subject>
  <cp:lastModifiedBy>Dharanesh E</cp:lastModifiedBy>
  <cp:revision>4</cp:revision>
  <dcterms:created xsi:type="dcterms:W3CDTF">2025-11-03T19:06:00Z</dcterms:created>
  <dcterms:modified xsi:type="dcterms:W3CDTF">2025-11-04T02:59:15Z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5F683CBC247644A5A84B39502645C8F1_12</vt:lpwstr>
  </property>
  <property fmtid="{D5CDD505-2E9C-101B-9397-08002B2CF9AE}" pid="3" name="KSOProductBuildVer">
    <vt:lpwstr>2057-12.2.0.23149</vt:lpwstr>
  </property>
</Properties>
</file>